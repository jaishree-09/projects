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14"/>
  </p:notesMasterIdLst>
  <p:sldIdLst>
    <p:sldId id="256" r:id="rId2"/>
    <p:sldId id="257" r:id="rId3"/>
    <p:sldId id="258" r:id="rId4"/>
    <p:sldId id="259" r:id="rId5"/>
    <p:sldId id="260" r:id="rId6"/>
    <p:sldId id="283" r:id="rId7"/>
    <p:sldId id="284" r:id="rId8"/>
    <p:sldId id="285" r:id="rId9"/>
    <p:sldId id="286" r:id="rId10"/>
    <p:sldId id="287" r:id="rId11"/>
    <p:sldId id="281" r:id="rId12"/>
    <p:sldId id="28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2ABF8C-960C-4360-A77E-76C7F4BA35CE}" type="datetimeFigureOut">
              <a:rPr lang="en-IN" smtClean="0"/>
              <a:t>13-11-2024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C11B10-BC3C-47F7-A178-0CAE59519460}" type="slidenum">
              <a:rPr lang="en-IN" smtClean="0"/>
              <a:t>‹#›</a:t>
            </a:fld>
            <a:endParaRPr lang="en-IN"/>
          </a:p>
        </p:txBody>
      </p:sp>
    </p:spTree>
    <p:extLst>
      <p:ext uri="{BB962C8B-B14F-4D97-AF65-F5344CB8AC3E}">
        <p14:creationId xmlns:p14="http://schemas.microsoft.com/office/powerpoint/2010/main" val="3361661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E3BF0552-3DDE-46A3-B39A-41A51329BCB3}" type="datetimeFigureOut">
              <a:rPr lang="en-IN" smtClean="0"/>
              <a:t>13-11-2024</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16A26DF5-C523-466D-99E8-7B140CCEAC40}" type="slidenum">
              <a:rPr lang="en-IN" smtClean="0"/>
              <a:t>‹#›</a:t>
            </a:fld>
            <a:endParaRPr lang="en-IN"/>
          </a:p>
        </p:txBody>
      </p:sp>
    </p:spTree>
    <p:extLst>
      <p:ext uri="{BB962C8B-B14F-4D97-AF65-F5344CB8AC3E}">
        <p14:creationId xmlns:p14="http://schemas.microsoft.com/office/powerpoint/2010/main" val="2140150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BF0552-3DDE-46A3-B39A-41A51329BCB3}" type="datetimeFigureOut">
              <a:rPr lang="en-IN" smtClean="0"/>
              <a:t>13-11-2024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A26DF5-C523-466D-99E8-7B140CCEAC40}" type="slidenum">
              <a:rPr lang="en-IN" smtClean="0"/>
              <a:t>‹#›</a:t>
            </a:fld>
            <a:endParaRPr lang="en-IN"/>
          </a:p>
        </p:txBody>
      </p:sp>
    </p:spTree>
    <p:extLst>
      <p:ext uri="{BB962C8B-B14F-4D97-AF65-F5344CB8AC3E}">
        <p14:creationId xmlns:p14="http://schemas.microsoft.com/office/powerpoint/2010/main" val="1719058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E3BF0552-3DDE-46A3-B39A-41A51329BCB3}" type="datetimeFigureOut">
              <a:rPr lang="en-IN" smtClean="0"/>
              <a:t>13-11-2024</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16A26DF5-C523-466D-99E8-7B140CCEAC40}" type="slidenum">
              <a:rPr lang="en-IN" smtClean="0"/>
              <a:t>‹#›</a:t>
            </a:fld>
            <a:endParaRPr lang="en-IN"/>
          </a:p>
        </p:txBody>
      </p:sp>
    </p:spTree>
    <p:extLst>
      <p:ext uri="{BB962C8B-B14F-4D97-AF65-F5344CB8AC3E}">
        <p14:creationId xmlns:p14="http://schemas.microsoft.com/office/powerpoint/2010/main" val="3927701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3BF0552-3DDE-46A3-B39A-41A51329BCB3}" type="datetimeFigureOut">
              <a:rPr lang="en-IN" smtClean="0"/>
              <a:t>13-11-2024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A26DF5-C523-466D-99E8-7B140CCEAC40}" type="slidenum">
              <a:rPr lang="en-IN" smtClean="0"/>
              <a:t>‹#›</a:t>
            </a:fld>
            <a:endParaRPr lang="en-IN"/>
          </a:p>
        </p:txBody>
      </p:sp>
    </p:spTree>
    <p:extLst>
      <p:ext uri="{BB962C8B-B14F-4D97-AF65-F5344CB8AC3E}">
        <p14:creationId xmlns:p14="http://schemas.microsoft.com/office/powerpoint/2010/main" val="201706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3BF0552-3DDE-46A3-B39A-41A51329BCB3}" type="datetimeFigureOut">
              <a:rPr lang="en-IN" smtClean="0"/>
              <a:t>13-11-2024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6A26DF5-C523-466D-99E8-7B140CCEAC40}" type="slidenum">
              <a:rPr lang="en-IN" smtClean="0"/>
              <a:t>‹#›</a:t>
            </a:fld>
            <a:endParaRPr lang="en-IN"/>
          </a:p>
        </p:txBody>
      </p:sp>
    </p:spTree>
    <p:extLst>
      <p:ext uri="{BB962C8B-B14F-4D97-AF65-F5344CB8AC3E}">
        <p14:creationId xmlns:p14="http://schemas.microsoft.com/office/powerpoint/2010/main" val="2703033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BF0552-3DDE-46A3-B39A-41A51329BCB3}" type="datetimeFigureOut">
              <a:rPr lang="en-IN" smtClean="0"/>
              <a:t>13-11-2024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A26DF5-C523-466D-99E8-7B140CCEAC40}" type="slidenum">
              <a:rPr lang="en-IN" smtClean="0"/>
              <a:t>‹#›</a:t>
            </a:fld>
            <a:endParaRPr lang="en-IN"/>
          </a:p>
        </p:txBody>
      </p:sp>
    </p:spTree>
    <p:extLst>
      <p:ext uri="{BB962C8B-B14F-4D97-AF65-F5344CB8AC3E}">
        <p14:creationId xmlns:p14="http://schemas.microsoft.com/office/powerpoint/2010/main" val="1917983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BF0552-3DDE-46A3-B39A-41A51329BCB3}" type="datetimeFigureOut">
              <a:rPr lang="en-IN" smtClean="0"/>
              <a:t>13-11-2024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6A26DF5-C523-466D-99E8-7B140CCEAC40}" type="slidenum">
              <a:rPr lang="en-IN" smtClean="0"/>
              <a:t>‹#›</a:t>
            </a:fld>
            <a:endParaRPr lang="en-IN"/>
          </a:p>
        </p:txBody>
      </p:sp>
    </p:spTree>
    <p:extLst>
      <p:ext uri="{BB962C8B-B14F-4D97-AF65-F5344CB8AC3E}">
        <p14:creationId xmlns:p14="http://schemas.microsoft.com/office/powerpoint/2010/main" val="2109255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BF0552-3DDE-46A3-B39A-41A51329BCB3}" type="datetimeFigureOut">
              <a:rPr lang="en-IN" smtClean="0"/>
              <a:t>13-11-2024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A26DF5-C523-466D-99E8-7B140CCEAC40}" type="slidenum">
              <a:rPr lang="en-IN" smtClean="0"/>
              <a:t>‹#›</a:t>
            </a:fld>
            <a:endParaRPr lang="en-IN"/>
          </a:p>
        </p:txBody>
      </p:sp>
    </p:spTree>
    <p:extLst>
      <p:ext uri="{BB962C8B-B14F-4D97-AF65-F5344CB8AC3E}">
        <p14:creationId xmlns:p14="http://schemas.microsoft.com/office/powerpoint/2010/main" val="2603118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BF0552-3DDE-46A3-B39A-41A51329BCB3}" type="datetimeFigureOut">
              <a:rPr lang="en-IN" smtClean="0"/>
              <a:t>13-11-2024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A26DF5-C523-466D-99E8-7B140CCEAC40}" type="slidenum">
              <a:rPr lang="en-IN" smtClean="0"/>
              <a:t>‹#›</a:t>
            </a:fld>
            <a:endParaRPr lang="en-IN"/>
          </a:p>
        </p:txBody>
      </p:sp>
    </p:spTree>
    <p:extLst>
      <p:ext uri="{BB962C8B-B14F-4D97-AF65-F5344CB8AC3E}">
        <p14:creationId xmlns:p14="http://schemas.microsoft.com/office/powerpoint/2010/main" val="1604980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BF0552-3DDE-46A3-B39A-41A51329BCB3}" type="datetimeFigureOut">
              <a:rPr lang="en-IN" smtClean="0"/>
              <a:t>13-11-2024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A26DF5-C523-466D-99E8-7B140CCEAC40}" type="slidenum">
              <a:rPr lang="en-IN" smtClean="0"/>
              <a:t>‹#›</a:t>
            </a:fld>
            <a:endParaRPr lang="en-IN"/>
          </a:p>
        </p:txBody>
      </p:sp>
    </p:spTree>
    <p:extLst>
      <p:ext uri="{BB962C8B-B14F-4D97-AF65-F5344CB8AC3E}">
        <p14:creationId xmlns:p14="http://schemas.microsoft.com/office/powerpoint/2010/main" val="1372953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E3BF0552-3DDE-46A3-B39A-41A51329BCB3}" type="datetimeFigureOut">
              <a:rPr lang="en-IN" smtClean="0"/>
              <a:t>13-11-2024</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16A26DF5-C523-466D-99E8-7B140CCEAC40}" type="slidenum">
              <a:rPr lang="en-IN" smtClean="0"/>
              <a:t>‹#›</a:t>
            </a:fld>
            <a:endParaRPr lang="en-IN"/>
          </a:p>
        </p:txBody>
      </p:sp>
    </p:spTree>
    <p:extLst>
      <p:ext uri="{BB962C8B-B14F-4D97-AF65-F5344CB8AC3E}">
        <p14:creationId xmlns:p14="http://schemas.microsoft.com/office/powerpoint/2010/main" val="1137755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E3BF0552-3DDE-46A3-B39A-41A51329BCB3}" type="datetimeFigureOut">
              <a:rPr lang="en-IN" smtClean="0"/>
              <a:t>13-11-2024</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16A26DF5-C523-466D-99E8-7B140CCEAC40}"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6115290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E3BF0552-3DDE-46A3-B39A-41A51329BCB3}" type="datetimeFigureOut">
              <a:rPr lang="en-IN" smtClean="0"/>
              <a:t>13-11-2024</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16A26DF5-C523-466D-99E8-7B140CCEAC40}" type="slidenum">
              <a:rPr lang="en-IN" smtClean="0"/>
              <a:t>‹#›</a:t>
            </a:fld>
            <a:endParaRPr lang="en-IN"/>
          </a:p>
        </p:txBody>
      </p:sp>
    </p:spTree>
    <p:extLst>
      <p:ext uri="{BB962C8B-B14F-4D97-AF65-F5344CB8AC3E}">
        <p14:creationId xmlns:p14="http://schemas.microsoft.com/office/powerpoint/2010/main" val="17970586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3BF0552-3DDE-46A3-B39A-41A51329BCB3}" type="datetimeFigureOut">
              <a:rPr lang="en-IN" smtClean="0"/>
              <a:t>13-11-2024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A26DF5-C523-466D-99E8-7B140CCEAC40}" type="slidenum">
              <a:rPr lang="en-IN" smtClean="0"/>
              <a:t>‹#›</a:t>
            </a:fld>
            <a:endParaRPr lang="en-IN"/>
          </a:p>
        </p:txBody>
      </p:sp>
    </p:spTree>
    <p:extLst>
      <p:ext uri="{BB962C8B-B14F-4D97-AF65-F5344CB8AC3E}">
        <p14:creationId xmlns:p14="http://schemas.microsoft.com/office/powerpoint/2010/main" val="3855052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3BF0552-3DDE-46A3-B39A-41A51329BCB3}" type="datetimeFigureOut">
              <a:rPr lang="en-IN" smtClean="0"/>
              <a:t>13-11-2024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A26DF5-C523-466D-99E8-7B140CCEAC40}" type="slidenum">
              <a:rPr lang="en-IN" smtClean="0"/>
              <a:t>‹#›</a:t>
            </a:fld>
            <a:endParaRPr lang="en-IN"/>
          </a:p>
        </p:txBody>
      </p:sp>
    </p:spTree>
    <p:extLst>
      <p:ext uri="{BB962C8B-B14F-4D97-AF65-F5344CB8AC3E}">
        <p14:creationId xmlns:p14="http://schemas.microsoft.com/office/powerpoint/2010/main" val="3014223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BF0552-3DDE-46A3-B39A-41A51329BCB3}" type="datetimeFigureOut">
              <a:rPr lang="en-IN" smtClean="0"/>
              <a:t>13-11-2024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A26DF5-C523-466D-99E8-7B140CCEAC40}" type="slidenum">
              <a:rPr lang="en-IN" smtClean="0"/>
              <a:t>‹#›</a:t>
            </a:fld>
            <a:endParaRPr lang="en-IN"/>
          </a:p>
        </p:txBody>
      </p:sp>
    </p:spTree>
    <p:extLst>
      <p:ext uri="{BB962C8B-B14F-4D97-AF65-F5344CB8AC3E}">
        <p14:creationId xmlns:p14="http://schemas.microsoft.com/office/powerpoint/2010/main" val="13019946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E3BF0552-3DDE-46A3-B39A-41A51329BCB3}" type="datetimeFigureOut">
              <a:rPr lang="en-IN" smtClean="0"/>
              <a:t>13-11-2024</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16A26DF5-C523-466D-99E8-7B140CCEAC40}" type="slidenum">
              <a:rPr lang="en-IN" smtClean="0"/>
              <a:t>‹#›</a:t>
            </a:fld>
            <a:endParaRPr lang="en-IN"/>
          </a:p>
        </p:txBody>
      </p:sp>
    </p:spTree>
    <p:extLst>
      <p:ext uri="{BB962C8B-B14F-4D97-AF65-F5344CB8AC3E}">
        <p14:creationId xmlns:p14="http://schemas.microsoft.com/office/powerpoint/2010/main" val="4129595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3BF0552-3DDE-46A3-B39A-41A51329BCB3}" type="datetimeFigureOut">
              <a:rPr lang="en-IN" smtClean="0"/>
              <a:t>13-11-2024</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6A26DF5-C523-466D-99E8-7B140CCEAC40}" type="slidenum">
              <a:rPr lang="en-IN" smtClean="0"/>
              <a:t>‹#›</a:t>
            </a:fld>
            <a:endParaRPr lang="en-IN"/>
          </a:p>
        </p:txBody>
      </p:sp>
    </p:spTree>
    <p:extLst>
      <p:ext uri="{BB962C8B-B14F-4D97-AF65-F5344CB8AC3E}">
        <p14:creationId xmlns:p14="http://schemas.microsoft.com/office/powerpoint/2010/main" val="2846347476"/>
      </p:ext>
    </p:extLst>
  </p:cSld>
  <p:clrMap bg1="dk1" tx1="lt1" bg2="dk2" tx2="lt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 id="214748379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drive.google.com/drive/folders/14dixBmt2-qM24qdBNZIh1D0wV-dSN52m?usp=drive_link" TargetMode="External"/><Relationship Id="rId4" Type="http://schemas.openxmlformats.org/officeDocument/2006/relationships/image" Target="../media/image14.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bg2">
                <a:lumMod val="20000"/>
                <a:lumOff val="80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F54A3-B806-1B56-ECE2-A7A5BE444EE5}"/>
              </a:ext>
            </a:extLst>
          </p:cNvPr>
          <p:cNvSpPr>
            <a:spLocks noGrp="1"/>
          </p:cNvSpPr>
          <p:nvPr>
            <p:ph type="ctrTitle"/>
          </p:nvPr>
        </p:nvSpPr>
        <p:spPr>
          <a:xfrm>
            <a:off x="1335464" y="717692"/>
            <a:ext cx="9144000" cy="5076540"/>
          </a:xfrm>
        </p:spPr>
        <p:txBody>
          <a:bodyPr/>
          <a:lstStyle/>
          <a:p>
            <a:endParaRPr lang="en-IN" dirty="0"/>
          </a:p>
        </p:txBody>
      </p:sp>
      <p:pic>
        <p:nvPicPr>
          <p:cNvPr id="1026" name="Picture 2">
            <a:extLst>
              <a:ext uri="{FF2B5EF4-FFF2-40B4-BE49-F238E27FC236}">
                <a16:creationId xmlns:a16="http://schemas.microsoft.com/office/drawing/2014/main" id="{BCB750EB-5942-93BE-3A42-D54EC644F0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814" y="171117"/>
            <a:ext cx="11736372" cy="651576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5DF05E2-25A4-C2C1-0EEB-415F3449B63A}"/>
              </a:ext>
            </a:extLst>
          </p:cNvPr>
          <p:cNvSpPr txBox="1"/>
          <p:nvPr/>
        </p:nvSpPr>
        <p:spPr>
          <a:xfrm>
            <a:off x="1412055" y="709520"/>
            <a:ext cx="8052455" cy="646331"/>
          </a:xfrm>
          <a:prstGeom prst="rect">
            <a:avLst/>
          </a:prstGeom>
          <a:noFill/>
        </p:spPr>
        <p:txBody>
          <a:bodyPr wrap="square">
            <a:spAutoFit/>
          </a:bodyPr>
          <a:lstStyle/>
          <a:p>
            <a:pPr algn="ctr"/>
            <a:r>
              <a:rPr lang="en-IN" sz="3600" b="1" dirty="0">
                <a:solidFill>
                  <a:schemeClr val="bg1"/>
                </a:solidFill>
                <a:latin typeface="Arial Black" panose="020B0A04020102020204" pitchFamily="34" charset="0"/>
              </a:rPr>
              <a:t> HIRING PROCESS ANALYTICS</a:t>
            </a:r>
          </a:p>
        </p:txBody>
      </p:sp>
    </p:spTree>
    <p:extLst>
      <p:ext uri="{BB962C8B-B14F-4D97-AF65-F5344CB8AC3E}">
        <p14:creationId xmlns:p14="http://schemas.microsoft.com/office/powerpoint/2010/main" val="3642874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rotWithShape="1">
          <a:gsLst>
            <a:gs pos="100000">
              <a:schemeClr val="bg2">
                <a:tint val="97000"/>
                <a:hueMod val="92000"/>
                <a:satMod val="169000"/>
                <a:lumMod val="44000"/>
                <a:lumOff val="56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F88FE-84F6-6AAB-A9FC-A58918154E4E}"/>
              </a:ext>
            </a:extLst>
          </p:cNvPr>
          <p:cNvSpPr>
            <a:spLocks noGrp="1"/>
          </p:cNvSpPr>
          <p:nvPr>
            <p:ph type="title"/>
          </p:nvPr>
        </p:nvSpPr>
        <p:spPr>
          <a:xfrm>
            <a:off x="674687" y="662515"/>
            <a:ext cx="8534400" cy="1507067"/>
          </a:xfrm>
        </p:spPr>
        <p:txBody>
          <a:bodyPr/>
          <a:lstStyle/>
          <a:p>
            <a:r>
              <a:rPr lang="en-IN" b="1" dirty="0">
                <a:solidFill>
                  <a:schemeClr val="bg1"/>
                </a:solidFill>
              </a:rPr>
              <a:t>PROJECT DESCRIPTION</a:t>
            </a:r>
          </a:p>
        </p:txBody>
      </p:sp>
      <p:sp>
        <p:nvSpPr>
          <p:cNvPr id="3" name="Content Placeholder 2">
            <a:extLst>
              <a:ext uri="{FF2B5EF4-FFF2-40B4-BE49-F238E27FC236}">
                <a16:creationId xmlns:a16="http://schemas.microsoft.com/office/drawing/2014/main" id="{83B56470-DFD1-98DB-8441-D3F301366B60}"/>
              </a:ext>
            </a:extLst>
          </p:cNvPr>
          <p:cNvSpPr>
            <a:spLocks noGrp="1"/>
          </p:cNvSpPr>
          <p:nvPr>
            <p:ph idx="1"/>
          </p:nvPr>
        </p:nvSpPr>
        <p:spPr>
          <a:xfrm>
            <a:off x="674687" y="2571750"/>
            <a:ext cx="5630863" cy="3371850"/>
          </a:xfrm>
        </p:spPr>
        <p:txBody>
          <a:bodyPr>
            <a:normAutofit/>
          </a:bodyPr>
          <a:lstStyle/>
          <a:p>
            <a:pPr marL="0" indent="0">
              <a:buNone/>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The hiring process is a crucial function of any company, and understanding trends such as the number of rejections, interviews, job types, and vacancies can provide valuable insights for the hiring department.</a:t>
            </a: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 The company's hiring process data is been analysed  to  draw meaningful insights from it.</a:t>
            </a:r>
          </a:p>
          <a:p>
            <a:pPr>
              <a:buFont typeface="Wingdings" panose="05000000000000000000" pitchFamily="2" charset="2"/>
              <a:buChar char="v"/>
            </a:pPr>
            <a:endParaRPr lang="en-IN" sz="2800" i="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a:extLst>
              <a:ext uri="{FF2B5EF4-FFF2-40B4-BE49-F238E27FC236}">
                <a16:creationId xmlns:a16="http://schemas.microsoft.com/office/drawing/2014/main" id="{BF562AAE-BB95-CD9C-E0F1-D60F603A4F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0" y="2469270"/>
            <a:ext cx="4462462" cy="2972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685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gradFill>
          <a:gsLst>
            <a:gs pos="100000">
              <a:schemeClr val="bg2">
                <a:tint val="97000"/>
                <a:hueMod val="92000"/>
                <a:satMod val="169000"/>
                <a:lumMod val="68000"/>
                <a:lumOff val="32000"/>
              </a:schemeClr>
            </a:gs>
            <a:gs pos="100000">
              <a:schemeClr val="bg2">
                <a:shade val="96000"/>
                <a:satMod val="120000"/>
                <a:lumMod val="0"/>
              </a:schemeClr>
            </a:gs>
          </a:gsLst>
          <a:lin ang="612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0839E-6338-B18E-357C-86D220E16338}"/>
              </a:ext>
            </a:extLst>
          </p:cNvPr>
          <p:cNvSpPr>
            <a:spLocks noGrp="1"/>
          </p:cNvSpPr>
          <p:nvPr>
            <p:ph type="title"/>
          </p:nvPr>
        </p:nvSpPr>
        <p:spPr>
          <a:xfrm>
            <a:off x="3257550" y="392898"/>
            <a:ext cx="5429250" cy="1293028"/>
          </a:xfrm>
        </p:spPr>
        <p:txBody>
          <a:bodyPr>
            <a:normAutofit/>
          </a:bodyPr>
          <a:lstStyle/>
          <a:p>
            <a:pPr algn="ctr"/>
            <a:r>
              <a:rPr lang="en-IN" b="1" dirty="0">
                <a:solidFill>
                  <a:schemeClr val="bg1"/>
                </a:solidFill>
                <a:latin typeface="Arial" panose="020B0604020202020204" pitchFamily="34" charset="0"/>
                <a:ea typeface="Calibri" panose="020F0502020204030204" pitchFamily="34" charset="0"/>
                <a:cs typeface="Arial" panose="020B0604020202020204" pitchFamily="34" charset="0"/>
                <a:sym typeface="Calibri"/>
              </a:rPr>
              <a:t>APPROACH</a:t>
            </a:r>
            <a:endParaRPr lang="en-IN" b="1" dirty="0">
              <a:solidFill>
                <a:schemeClr val="bg1"/>
              </a:solidFill>
              <a:latin typeface="Arial" panose="020B0604020202020204" pitchFamily="34" charset="0"/>
              <a:ea typeface="Calibri" panose="020F050202020403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6C1E1B6-E584-0959-57E3-845D70BDA3F2}"/>
              </a:ext>
            </a:extLst>
          </p:cNvPr>
          <p:cNvSpPr>
            <a:spLocks noGrp="1"/>
          </p:cNvSpPr>
          <p:nvPr>
            <p:ph idx="1"/>
          </p:nvPr>
        </p:nvSpPr>
        <p:spPr>
          <a:xfrm>
            <a:off x="704850" y="2133601"/>
            <a:ext cx="10820400" cy="4399410"/>
          </a:xfrm>
          <a:noFill/>
        </p:spPr>
        <p:txBody>
          <a:bodyPr>
            <a:normAutofit/>
          </a:bodyPr>
          <a:lstStyle/>
          <a:p>
            <a:pPr>
              <a:buFont typeface="Wingdings" panose="05000000000000000000" pitchFamily="2" charset="2"/>
              <a:buChar char="v"/>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The data cleaning and analysis is done by:</a:t>
            </a:r>
          </a:p>
          <a:p>
            <a:endPar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1">
              <a:buFont typeface="Wingdings" panose="05000000000000000000" pitchFamily="2" charset="2"/>
              <a:buChar char="Ø"/>
            </a:pP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Handling Missing Data: Column event_name had missing values or null values. Those are replaced with “Don’t want to say” as they both implies same in this project i.e. gender of candidate is not known.</a:t>
            </a:r>
          </a:p>
          <a:p>
            <a:pPr lvl="1">
              <a:buFont typeface="Wingdings" panose="05000000000000000000" pitchFamily="2" charset="2"/>
              <a:buChar char="Ø"/>
            </a:pP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Column Offered Salary had 1 row with Null value. The corresponding value in Department column is “Sales Department” and Post Name is i7.So  it is replaced with median of offered salary for sales department and i7 Post Name. The median came out to be </a:t>
            </a:r>
            <a:r>
              <a:rPr lang="en-IN" dirty="0">
                <a:solidFill>
                  <a:schemeClr val="bg1"/>
                </a:solidFill>
                <a:effectLst/>
                <a:latin typeface="Calibri" panose="020F0502020204030204" pitchFamily="34" charset="0"/>
                <a:ea typeface="Calibri" panose="020F0502020204030204" pitchFamily="34" charset="0"/>
                <a:cs typeface="Calibri" panose="020F0502020204030204" pitchFamily="34" charset="0"/>
              </a:rPr>
              <a:t>49625</a:t>
            </a: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pPr lvl="1">
              <a:buFont typeface="Wingdings" panose="05000000000000000000" pitchFamily="2" charset="2"/>
              <a:buChar char="Ø"/>
            </a:pPr>
            <a:r>
              <a:rPr lang="en-US"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Error Detection: There is a Post Name c-10 which might be an typo error and it can be corrected as c10</a:t>
            </a: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pPr lvl="1">
              <a:lnSpc>
                <a:spcPct val="107000"/>
              </a:lnSpc>
              <a:spcAft>
                <a:spcPts val="800"/>
              </a:spcAft>
              <a:buFont typeface="Wingdings" panose="05000000000000000000" pitchFamily="2" charset="2"/>
              <a:buChar char="Ø"/>
            </a:pPr>
            <a:r>
              <a:rPr lang="en-IN" dirty="0">
                <a:solidFill>
                  <a:schemeClr val="bg1"/>
                </a:solidFill>
                <a:latin typeface="Calibri" panose="020F0502020204030204" pitchFamily="34" charset="0"/>
                <a:ea typeface="Calibri" panose="020F0502020204030204" pitchFamily="34" charset="0"/>
                <a:cs typeface="Calibri" panose="020F0502020204030204" pitchFamily="34" charset="0"/>
              </a:rPr>
              <a:t>After cleaning and preparing the data. This  tasks are performed by calculating averages, medians, and other statistical measures. The  visualizations  are created to better understand the data.</a:t>
            </a:r>
          </a:p>
          <a:p>
            <a:endParaRPr lang="en-IN" dirty="0"/>
          </a:p>
          <a:p>
            <a:endParaRPr lang="en-IN" dirty="0"/>
          </a:p>
        </p:txBody>
      </p:sp>
    </p:spTree>
    <p:extLst>
      <p:ext uri="{BB962C8B-B14F-4D97-AF65-F5344CB8AC3E}">
        <p14:creationId xmlns:p14="http://schemas.microsoft.com/office/powerpoint/2010/main" val="4281735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a:gsLst>
            <a:gs pos="100000">
              <a:schemeClr val="bg2">
                <a:tint val="97000"/>
                <a:hueMod val="92000"/>
                <a:satMod val="169000"/>
                <a:lumMod val="68000"/>
                <a:lumOff val="32000"/>
              </a:schemeClr>
            </a:gs>
            <a:gs pos="100000">
              <a:schemeClr val="bg2">
                <a:shade val="96000"/>
                <a:satMod val="120000"/>
                <a:lumMod val="0"/>
              </a:schemeClr>
            </a:gs>
          </a:gsLst>
          <a:lin ang="6120000" scaled="1"/>
        </a:gradFill>
        <a:effectLst/>
      </p:bgPr>
    </p:bg>
    <p:spTree>
      <p:nvGrpSpPr>
        <p:cNvPr id="1" name=""/>
        <p:cNvGrpSpPr/>
        <p:nvPr/>
      </p:nvGrpSpPr>
      <p:grpSpPr>
        <a:xfrm>
          <a:off x="0" y="0"/>
          <a:ext cx="0" cy="0"/>
          <a:chOff x="0" y="0"/>
          <a:chExt cx="0" cy="0"/>
        </a:xfrm>
      </p:grpSpPr>
      <p:pic>
        <p:nvPicPr>
          <p:cNvPr id="4" name="Google Shape;105;p4">
            <a:extLst>
              <a:ext uri="{FF2B5EF4-FFF2-40B4-BE49-F238E27FC236}">
                <a16:creationId xmlns:a16="http://schemas.microsoft.com/office/drawing/2014/main" id="{C575F2FC-176E-0F74-5701-C2BDC87D40F2}"/>
              </a:ext>
            </a:extLst>
          </p:cNvPr>
          <p:cNvPicPr preferRelativeResize="0">
            <a:picLocks/>
          </p:cNvPicPr>
          <p:nvPr/>
        </p:nvPicPr>
        <p:blipFill rotWithShape="1">
          <a:blip r:embed="rId2">
            <a:alphaModFix/>
          </a:blip>
          <a:srcRect/>
          <a:stretch/>
        </p:blipFill>
        <p:spPr>
          <a:xfrm>
            <a:off x="1790700" y="2258021"/>
            <a:ext cx="2743200" cy="1542454"/>
          </a:xfrm>
          <a:prstGeom prst="rect">
            <a:avLst/>
          </a:prstGeom>
          <a:noFill/>
          <a:ln>
            <a:noFill/>
          </a:ln>
        </p:spPr>
      </p:pic>
      <p:sp>
        <p:nvSpPr>
          <p:cNvPr id="6" name="Google Shape;109;p4">
            <a:extLst>
              <a:ext uri="{FF2B5EF4-FFF2-40B4-BE49-F238E27FC236}">
                <a16:creationId xmlns:a16="http://schemas.microsoft.com/office/drawing/2014/main" id="{4420D09C-86D8-DD1B-D724-6219131C6B3C}"/>
              </a:ext>
            </a:extLst>
          </p:cNvPr>
          <p:cNvSpPr txBox="1">
            <a:spLocks noGrp="1"/>
          </p:cNvSpPr>
          <p:nvPr>
            <p:ph type="title"/>
          </p:nvPr>
        </p:nvSpPr>
        <p:spPr>
          <a:xfrm>
            <a:off x="1195387" y="4402138"/>
            <a:ext cx="3933825" cy="197306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7000"/>
              </a:lnSpc>
              <a:spcBef>
                <a:spcPts val="0"/>
              </a:spcBef>
              <a:spcAft>
                <a:spcPts val="0"/>
              </a:spcAft>
              <a:buClr>
                <a:schemeClr val="dk1"/>
              </a:buClr>
              <a:buSzPts val="1800"/>
              <a:buFont typeface="Noto Sans Symbols"/>
              <a:buChar char="❑"/>
            </a:pPr>
            <a:r>
              <a:rPr lang="en-IN" sz="1800" b="0" i="0" u="none" strike="noStrike" cap="none" dirty="0">
                <a:solidFill>
                  <a:schemeClr val="dk1"/>
                </a:solidFill>
                <a:latin typeface="Calibri"/>
                <a:ea typeface="Calibri"/>
                <a:cs typeface="Calibri"/>
                <a:sym typeface="Calibri"/>
              </a:rPr>
              <a:t>Microsoft Office 2019 is used</a:t>
            </a:r>
            <a:endParaRPr dirty="0"/>
          </a:p>
          <a:p>
            <a:pPr marL="285750" marR="0" lvl="0" indent="-285750" algn="l" rtl="0">
              <a:lnSpc>
                <a:spcPct val="107000"/>
              </a:lnSpc>
              <a:spcBef>
                <a:spcPts val="800"/>
              </a:spcBef>
              <a:spcAft>
                <a:spcPts val="0"/>
              </a:spcAft>
              <a:buClr>
                <a:schemeClr val="dk1"/>
              </a:buClr>
              <a:buSzPts val="1800"/>
              <a:buFont typeface="Noto Sans Symbols"/>
              <a:buChar char="❑"/>
            </a:pPr>
            <a:r>
              <a:rPr lang="en-IN" sz="1800" b="0" i="0" u="none" strike="noStrike" cap="none" dirty="0">
                <a:solidFill>
                  <a:schemeClr val="dk1"/>
                </a:solidFill>
                <a:latin typeface="Calibri"/>
                <a:ea typeface="Calibri"/>
                <a:cs typeface="Calibri"/>
                <a:sym typeface="Calibri"/>
              </a:rPr>
              <a:t>MS Excel is used </a:t>
            </a:r>
            <a:r>
              <a:rPr lang="en-IN" sz="1800" cap="none" dirty="0">
                <a:solidFill>
                  <a:schemeClr val="dk1"/>
                </a:solidFill>
                <a:latin typeface="Calibri"/>
                <a:ea typeface="Calibri"/>
                <a:cs typeface="Calibri"/>
                <a:sym typeface="Calibri"/>
              </a:rPr>
              <a:t>to </a:t>
            </a:r>
            <a:r>
              <a:rPr lang="en-IN" sz="1800" b="0" i="0" u="none" strike="noStrike" cap="none" dirty="0">
                <a:solidFill>
                  <a:schemeClr val="dk1"/>
                </a:solidFill>
                <a:latin typeface="Calibri"/>
                <a:ea typeface="Calibri"/>
                <a:cs typeface="Calibri"/>
                <a:sym typeface="Calibri"/>
              </a:rPr>
              <a:t>enter data in table format, perform computations, plot graphs etc. Here it is used to filter data and clean the data to </a:t>
            </a:r>
            <a:r>
              <a:rPr lang="en-IN" sz="1800" cap="none" dirty="0">
                <a:solidFill>
                  <a:schemeClr val="dk1"/>
                </a:solidFill>
                <a:latin typeface="Calibri"/>
                <a:ea typeface="Calibri"/>
                <a:cs typeface="Calibri"/>
                <a:sym typeface="Calibri"/>
              </a:rPr>
              <a:t>get </a:t>
            </a:r>
            <a:r>
              <a:rPr lang="en-IN" sz="1800" b="0" i="0" u="none" strike="noStrike" cap="none" dirty="0">
                <a:solidFill>
                  <a:schemeClr val="dk1"/>
                </a:solidFill>
                <a:latin typeface="Calibri"/>
                <a:ea typeface="Calibri"/>
                <a:cs typeface="Calibri"/>
                <a:sym typeface="Calibri"/>
              </a:rPr>
              <a:t>insights for hiring process.</a:t>
            </a:r>
            <a:endParaRPr dirty="0"/>
          </a:p>
        </p:txBody>
      </p:sp>
      <p:pic>
        <p:nvPicPr>
          <p:cNvPr id="7" name="Google Shape;106;p4">
            <a:extLst>
              <a:ext uri="{FF2B5EF4-FFF2-40B4-BE49-F238E27FC236}">
                <a16:creationId xmlns:a16="http://schemas.microsoft.com/office/drawing/2014/main" id="{7789C868-6263-9139-6C4F-F0F85FC0A67E}"/>
              </a:ext>
            </a:extLst>
          </p:cNvPr>
          <p:cNvPicPr preferRelativeResize="0">
            <a:picLocks noGrp="1"/>
          </p:cNvPicPr>
          <p:nvPr>
            <p:ph idx="1"/>
          </p:nvPr>
        </p:nvPicPr>
        <p:blipFill rotWithShape="1">
          <a:blip r:embed="rId3">
            <a:alphaModFix/>
          </a:blip>
          <a:srcRect/>
          <a:stretch/>
        </p:blipFill>
        <p:spPr>
          <a:xfrm>
            <a:off x="6667499" y="2258021"/>
            <a:ext cx="2543175" cy="1455141"/>
          </a:xfrm>
          <a:prstGeom prst="rect">
            <a:avLst/>
          </a:prstGeom>
          <a:noFill/>
          <a:ln>
            <a:noFill/>
          </a:ln>
        </p:spPr>
      </p:pic>
      <p:sp>
        <p:nvSpPr>
          <p:cNvPr id="9" name="Google Shape;110;p4">
            <a:extLst>
              <a:ext uri="{FF2B5EF4-FFF2-40B4-BE49-F238E27FC236}">
                <a16:creationId xmlns:a16="http://schemas.microsoft.com/office/drawing/2014/main" id="{F4B0E8EE-9CC8-CB36-2853-0B95FA868CE5}"/>
              </a:ext>
            </a:extLst>
          </p:cNvPr>
          <p:cNvSpPr txBox="1"/>
          <p:nvPr/>
        </p:nvSpPr>
        <p:spPr>
          <a:xfrm>
            <a:off x="6400799" y="4402138"/>
            <a:ext cx="3362326" cy="197306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7000"/>
              </a:lnSpc>
              <a:spcBef>
                <a:spcPts val="0"/>
              </a:spcBef>
              <a:spcAft>
                <a:spcPts val="0"/>
              </a:spcAft>
              <a:buClr>
                <a:schemeClr val="dk1"/>
              </a:buClr>
              <a:buSzPts val="1800"/>
              <a:buFont typeface="Noto Sans Symbols"/>
              <a:buChar char="❑"/>
            </a:pPr>
            <a:r>
              <a:rPr lang="en-IN" sz="1800" b="0" i="0" u="none" strike="noStrike" cap="none" dirty="0">
                <a:solidFill>
                  <a:schemeClr val="dk1"/>
                </a:solidFill>
                <a:latin typeface="Calibri"/>
                <a:ea typeface="Calibri"/>
                <a:cs typeface="Calibri"/>
                <a:sym typeface="Calibri"/>
              </a:rPr>
              <a:t>Microsoft PowerPoint 2019</a:t>
            </a:r>
            <a:endParaRPr dirty="0"/>
          </a:p>
          <a:p>
            <a:pPr marL="285750" marR="0" lvl="0" indent="-285750" algn="l" rtl="0">
              <a:lnSpc>
                <a:spcPct val="107000"/>
              </a:lnSpc>
              <a:spcBef>
                <a:spcPts val="800"/>
              </a:spcBef>
              <a:spcAft>
                <a:spcPts val="0"/>
              </a:spcAft>
              <a:buClr>
                <a:schemeClr val="dk1"/>
              </a:buClr>
              <a:buSzPts val="1800"/>
              <a:buFont typeface="Noto Sans Symbols"/>
              <a:buChar char="❑"/>
            </a:pPr>
            <a:r>
              <a:rPr lang="en-IN" sz="1800" b="0" i="0" u="none" strike="noStrike" cap="none" dirty="0">
                <a:solidFill>
                  <a:schemeClr val="dk1"/>
                </a:solidFill>
                <a:latin typeface="Calibri"/>
                <a:ea typeface="Calibri"/>
                <a:cs typeface="Calibri"/>
                <a:sym typeface="Calibri"/>
              </a:rPr>
              <a:t>It is used for documenting the insights and give presentation of  the analysis done to  the hiring  teams to make better decisions.</a:t>
            </a:r>
            <a:endParaRPr dirty="0"/>
          </a:p>
        </p:txBody>
      </p:sp>
      <p:sp>
        <p:nvSpPr>
          <p:cNvPr id="11" name="TextBox 10">
            <a:extLst>
              <a:ext uri="{FF2B5EF4-FFF2-40B4-BE49-F238E27FC236}">
                <a16:creationId xmlns:a16="http://schemas.microsoft.com/office/drawing/2014/main" id="{6E8EC2B7-45B6-0680-76B5-E0B68DF61F50}"/>
              </a:ext>
            </a:extLst>
          </p:cNvPr>
          <p:cNvSpPr txBox="1"/>
          <p:nvPr/>
        </p:nvSpPr>
        <p:spPr>
          <a:xfrm>
            <a:off x="4095750" y="922714"/>
            <a:ext cx="6096000" cy="646331"/>
          </a:xfrm>
          <a:prstGeom prst="rect">
            <a:avLst/>
          </a:prstGeom>
          <a:noFill/>
        </p:spPr>
        <p:txBody>
          <a:bodyPr wrap="square">
            <a:spAutoFit/>
          </a:bodyPr>
          <a:lstStyle/>
          <a:p>
            <a:r>
              <a:rPr lang="en-IN" sz="3600" b="1"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rPr>
              <a:t>T</a:t>
            </a:r>
            <a:r>
              <a:rPr lang="en-IN" sz="3600" b="1" dirty="0">
                <a:solidFill>
                  <a:schemeClr val="bg1"/>
                </a:solidFill>
                <a:latin typeface="Calibri" panose="020F0502020204030204" pitchFamily="34" charset="0"/>
                <a:ea typeface="Calibri" panose="020F0502020204030204" pitchFamily="34" charset="0"/>
                <a:cs typeface="Calibri" panose="020F0502020204030204" pitchFamily="34" charset="0"/>
              </a:rPr>
              <a:t>ECH</a:t>
            </a:r>
            <a:r>
              <a:rPr lang="en-IN" sz="3600" b="1"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rPr>
              <a:t>-</a:t>
            </a:r>
            <a:r>
              <a:rPr lang="en-IN" sz="3600" b="1" dirty="0">
                <a:solidFill>
                  <a:schemeClr val="bg1"/>
                </a:solidFill>
                <a:latin typeface="Calibri" panose="020F0502020204030204" pitchFamily="34" charset="0"/>
                <a:ea typeface="Calibri" panose="020F0502020204030204" pitchFamily="34" charset="0"/>
                <a:cs typeface="Calibri" panose="020F0502020204030204" pitchFamily="34" charset="0"/>
              </a:rPr>
              <a:t>STACK </a:t>
            </a:r>
            <a:r>
              <a:rPr lang="en-IN" sz="3600" b="1"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rPr>
              <a:t>U</a:t>
            </a:r>
            <a:r>
              <a:rPr lang="en-IN" sz="3600" b="1" dirty="0">
                <a:solidFill>
                  <a:schemeClr val="bg1"/>
                </a:solidFill>
                <a:latin typeface="Calibri" panose="020F0502020204030204" pitchFamily="34" charset="0"/>
                <a:ea typeface="Calibri" panose="020F0502020204030204" pitchFamily="34" charset="0"/>
                <a:cs typeface="Calibri" panose="020F0502020204030204" pitchFamily="34" charset="0"/>
              </a:rPr>
              <a:t>SED</a:t>
            </a:r>
            <a:endParaRPr lang="en-IN" sz="3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19631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gradFill>
          <a:gsLst>
            <a:gs pos="100000">
              <a:schemeClr val="bg2">
                <a:tint val="97000"/>
                <a:hueMod val="92000"/>
                <a:satMod val="169000"/>
                <a:lumMod val="68000"/>
                <a:lumOff val="32000"/>
              </a:schemeClr>
            </a:gs>
            <a:gs pos="100000">
              <a:schemeClr val="bg2">
                <a:shade val="96000"/>
                <a:satMod val="120000"/>
                <a:lumMod val="0"/>
              </a:schemeClr>
            </a:gs>
          </a:gsLst>
          <a:lin ang="612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56017-52E4-69DF-D36B-65BDA8150C84}"/>
              </a:ext>
            </a:extLst>
          </p:cNvPr>
          <p:cNvSpPr>
            <a:spLocks noGrp="1"/>
          </p:cNvSpPr>
          <p:nvPr>
            <p:ph type="title"/>
          </p:nvPr>
        </p:nvSpPr>
        <p:spPr>
          <a:xfrm>
            <a:off x="1047536" y="84097"/>
            <a:ext cx="8610600" cy="1293028"/>
          </a:xfrm>
        </p:spPr>
        <p:txBody>
          <a:bodyPr>
            <a:normAutofit/>
          </a:bodyPr>
          <a:lstStyle/>
          <a:p>
            <a:pPr algn="ctr"/>
            <a:r>
              <a:rPr lang="en-IN" sz="36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Data Analytics Tasks</a:t>
            </a:r>
            <a:endParaRPr lang="en-IN" sz="3600" b="1" dirty="0">
              <a:solidFill>
                <a:schemeClr val="bg1"/>
              </a:solidFill>
            </a:endParaRPr>
          </a:p>
        </p:txBody>
      </p:sp>
      <p:sp>
        <p:nvSpPr>
          <p:cNvPr id="3" name="Content Placeholder 2">
            <a:extLst>
              <a:ext uri="{FF2B5EF4-FFF2-40B4-BE49-F238E27FC236}">
                <a16:creationId xmlns:a16="http://schemas.microsoft.com/office/drawing/2014/main" id="{358926B0-EA42-8625-FC2D-6DA5D756D6B4}"/>
              </a:ext>
            </a:extLst>
          </p:cNvPr>
          <p:cNvSpPr>
            <a:spLocks noGrp="1"/>
          </p:cNvSpPr>
          <p:nvPr>
            <p:ph idx="1"/>
          </p:nvPr>
        </p:nvSpPr>
        <p:spPr>
          <a:xfrm>
            <a:off x="600075" y="1312623"/>
            <a:ext cx="10820400" cy="5345351"/>
          </a:xfrm>
        </p:spPr>
        <p:txBody>
          <a:bodyPr/>
          <a:lstStyle/>
          <a:p>
            <a:pPr>
              <a:buFont typeface="Wingdings" panose="05000000000000000000" pitchFamily="2" charset="2"/>
              <a:buChar char="v"/>
            </a:pPr>
            <a:r>
              <a:rPr lang="en-IN" sz="24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Hiring Analysis: </a:t>
            </a: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The hiring process involves bringing new individuals into the organization for various roles.</a:t>
            </a:r>
          </a:p>
          <a:p>
            <a:pPr>
              <a:buFont typeface="Wingdings" panose="05000000000000000000" pitchFamily="2" charset="2"/>
              <a:buChar char="Ø"/>
            </a:pPr>
            <a:r>
              <a:rPr lang="en-US" sz="2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Task</a:t>
            </a:r>
            <a:r>
              <a:rPr lang="en-US" sz="18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a:t>
            </a:r>
            <a:r>
              <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Determine the gender distribution of hires. How many males and females have been hired by the company?</a:t>
            </a:r>
          </a:p>
          <a:p>
            <a:pPr>
              <a:buFont typeface="Wingdings" panose="05000000000000000000" pitchFamily="2" charset="2"/>
              <a:buChar char="q"/>
            </a:pPr>
            <a:r>
              <a:rPr lang="en-IN" b="1" dirty="0">
                <a:solidFill>
                  <a:schemeClr val="bg1"/>
                </a:solidFill>
                <a:latin typeface="Calibri" panose="020F0502020204030204" pitchFamily="34" charset="0"/>
                <a:ea typeface="Calibri" panose="020F0502020204030204" pitchFamily="34" charset="0"/>
                <a:cs typeface="Times New Roman" panose="02020603050405020304" pitchFamily="18" charset="0"/>
              </a:rPr>
              <a:t>Result:</a:t>
            </a:r>
          </a:p>
          <a:p>
            <a:pPr marL="0" indent="0">
              <a:buNone/>
            </a:pPr>
            <a:endParaRPr lang="en-IN" sz="18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Ø"/>
            </a:pPr>
            <a:endPar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v"/>
            </a:pPr>
            <a:endParaRPr lang="en-IN" dirty="0">
              <a:solidFill>
                <a:schemeClr val="bg1"/>
              </a:solidFill>
            </a:endParaRPr>
          </a:p>
        </p:txBody>
      </p:sp>
      <p:pic>
        <p:nvPicPr>
          <p:cNvPr id="7" name="Picture 6">
            <a:extLst>
              <a:ext uri="{FF2B5EF4-FFF2-40B4-BE49-F238E27FC236}">
                <a16:creationId xmlns:a16="http://schemas.microsoft.com/office/drawing/2014/main" id="{F03F31CD-1033-BAB9-11E1-08E70B5CBDD3}"/>
              </a:ext>
            </a:extLst>
          </p:cNvPr>
          <p:cNvPicPr>
            <a:picLocks noChangeAspect="1"/>
          </p:cNvPicPr>
          <p:nvPr/>
        </p:nvPicPr>
        <p:blipFill>
          <a:blip r:embed="rId2"/>
          <a:stretch>
            <a:fillRect/>
          </a:stretch>
        </p:blipFill>
        <p:spPr>
          <a:xfrm>
            <a:off x="1859525" y="3214740"/>
            <a:ext cx="3493311" cy="2659213"/>
          </a:xfrm>
          <a:prstGeom prst="rect">
            <a:avLst/>
          </a:prstGeom>
        </p:spPr>
      </p:pic>
      <p:pic>
        <p:nvPicPr>
          <p:cNvPr id="11" name="Picture 10">
            <a:extLst>
              <a:ext uri="{FF2B5EF4-FFF2-40B4-BE49-F238E27FC236}">
                <a16:creationId xmlns:a16="http://schemas.microsoft.com/office/drawing/2014/main" id="{770005FF-F020-EDD5-B13D-73C77819D8CA}"/>
              </a:ext>
            </a:extLst>
          </p:cNvPr>
          <p:cNvPicPr>
            <a:picLocks noChangeAspect="1"/>
          </p:cNvPicPr>
          <p:nvPr/>
        </p:nvPicPr>
        <p:blipFill>
          <a:blip r:embed="rId3"/>
          <a:stretch>
            <a:fillRect/>
          </a:stretch>
        </p:blipFill>
        <p:spPr>
          <a:xfrm>
            <a:off x="6839166" y="3214739"/>
            <a:ext cx="4103983" cy="2659213"/>
          </a:xfrm>
          <a:prstGeom prst="rect">
            <a:avLst/>
          </a:prstGeom>
        </p:spPr>
      </p:pic>
      <p:sp>
        <p:nvSpPr>
          <p:cNvPr id="13" name="TextBox 12">
            <a:extLst>
              <a:ext uri="{FF2B5EF4-FFF2-40B4-BE49-F238E27FC236}">
                <a16:creationId xmlns:a16="http://schemas.microsoft.com/office/drawing/2014/main" id="{573DF637-6B8A-B9B1-C242-944E8FE440EA}"/>
              </a:ext>
            </a:extLst>
          </p:cNvPr>
          <p:cNvSpPr txBox="1"/>
          <p:nvPr/>
        </p:nvSpPr>
        <p:spPr>
          <a:xfrm>
            <a:off x="1358080" y="6116288"/>
            <a:ext cx="8472949" cy="375552"/>
          </a:xfrm>
          <a:prstGeom prst="rect">
            <a:avLst/>
          </a:prstGeom>
          <a:noFill/>
        </p:spPr>
        <p:txBody>
          <a:bodyPr wrap="square">
            <a:spAutoFit/>
          </a:bodyPr>
          <a:lstStyle/>
          <a:p>
            <a:pPr>
              <a:lnSpc>
                <a:spcPct val="107000"/>
              </a:lnSpc>
              <a:spcAft>
                <a:spcPts val="800"/>
              </a:spcAft>
            </a:pPr>
            <a:r>
              <a:rPr lang="en-IN"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There are 58% of Male i.e.  2563 and 42% of Females i.e. 1856 hired</a:t>
            </a:r>
            <a:r>
              <a:rPr lang="en-IN" dirty="0">
                <a:solidFill>
                  <a:schemeClr val="bg1"/>
                </a:solidFill>
                <a:latin typeface="Calibri" panose="020F0502020204030204" pitchFamily="34" charset="0"/>
                <a:ea typeface="Calibri" panose="020F0502020204030204" pitchFamily="34" charset="0"/>
                <a:cs typeface="Times New Roman" panose="02020603050405020304" pitchFamily="18" charset="0"/>
              </a:rPr>
              <a:t> by the company.</a:t>
            </a:r>
            <a:endPar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43081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gradFill>
          <a:gsLst>
            <a:gs pos="100000">
              <a:schemeClr val="bg2">
                <a:tint val="97000"/>
                <a:hueMod val="92000"/>
                <a:satMod val="169000"/>
                <a:lumMod val="68000"/>
                <a:lumOff val="32000"/>
              </a:schemeClr>
            </a:gs>
            <a:gs pos="100000">
              <a:schemeClr val="bg2">
                <a:shade val="96000"/>
                <a:satMod val="120000"/>
                <a:lumMod val="0"/>
              </a:schemeClr>
            </a:gs>
          </a:gsLst>
          <a:lin ang="6120000" scaled="1"/>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AB1FEC-3C4C-3E62-FABB-93FF9DC31563}"/>
              </a:ext>
            </a:extLst>
          </p:cNvPr>
          <p:cNvSpPr>
            <a:spLocks noGrp="1"/>
          </p:cNvSpPr>
          <p:nvPr>
            <p:ph idx="1"/>
          </p:nvPr>
        </p:nvSpPr>
        <p:spPr>
          <a:xfrm>
            <a:off x="685800" y="467389"/>
            <a:ext cx="10820400" cy="6159553"/>
          </a:xfrm>
          <a:gradFill>
            <a:gsLst>
              <a:gs pos="100000">
                <a:schemeClr val="bg2">
                  <a:tint val="97000"/>
                  <a:hueMod val="92000"/>
                  <a:satMod val="169000"/>
                  <a:lumMod val="68000"/>
                  <a:lumOff val="32000"/>
                </a:schemeClr>
              </a:gs>
              <a:gs pos="100000">
                <a:schemeClr val="bg2">
                  <a:shade val="96000"/>
                  <a:satMod val="120000"/>
                  <a:lumMod val="0"/>
                </a:schemeClr>
              </a:gs>
            </a:gsLst>
            <a:lin ang="6120000" scaled="1"/>
          </a:gradFill>
        </p:spPr>
        <p:txBody>
          <a:bodyPr/>
          <a:lstStyle/>
          <a:p>
            <a:pPr>
              <a:buFont typeface="Wingdings" panose="05000000000000000000" pitchFamily="2" charset="2"/>
              <a:buChar char="v"/>
            </a:pPr>
            <a:r>
              <a:rPr lang="en-IN" sz="32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Salary Analysis:</a:t>
            </a:r>
          </a:p>
          <a:p>
            <a:pPr>
              <a:buFont typeface="Wingdings" panose="05000000000000000000" pitchFamily="2" charset="2"/>
              <a:buChar char="v"/>
            </a:pPr>
            <a:r>
              <a:rPr lang="en-US" sz="1600" dirty="0">
                <a:solidFill>
                  <a:schemeClr val="bg1"/>
                </a:solidFill>
                <a:latin typeface="Calibri" panose="020F0502020204030204" pitchFamily="34" charset="0"/>
                <a:ea typeface="Calibri" panose="020F0502020204030204" pitchFamily="34" charset="0"/>
                <a:cs typeface="Times New Roman" panose="02020603050405020304" pitchFamily="18" charset="0"/>
              </a:rPr>
              <a:t>The average salary is calculated by adding up the salaries of a group of employees and then dividing the total by the number of employees.</a:t>
            </a:r>
          </a:p>
          <a:p>
            <a:pPr>
              <a:buFont typeface="Wingdings" panose="05000000000000000000" pitchFamily="2" charset="2"/>
              <a:buChar char="Ø"/>
            </a:pPr>
            <a:r>
              <a:rPr lang="en-IN" sz="18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Task: </a:t>
            </a:r>
            <a:r>
              <a:rPr lang="en-IN" sz="1600" dirty="0">
                <a:solidFill>
                  <a:schemeClr val="bg1"/>
                </a:solidFill>
                <a:latin typeface="Calibri" panose="020F0502020204030204" pitchFamily="34" charset="0"/>
                <a:ea typeface="Calibri" panose="020F0502020204030204" pitchFamily="34" charset="0"/>
                <a:cs typeface="Times New Roman" panose="02020603050405020304" pitchFamily="18" charset="0"/>
              </a:rPr>
              <a:t>What is the average salary offered by this company? Use Excel functions to calculate this.</a:t>
            </a:r>
          </a:p>
          <a:p>
            <a:pPr>
              <a:buFont typeface="Wingdings" panose="05000000000000000000" pitchFamily="2" charset="2"/>
              <a:buChar char="q"/>
            </a:pPr>
            <a:r>
              <a:rPr lang="en-IN" sz="1800" b="1" dirty="0">
                <a:solidFill>
                  <a:schemeClr val="bg1"/>
                </a:solidFill>
                <a:latin typeface="Calibri" panose="020F0502020204030204" pitchFamily="34" charset="0"/>
                <a:ea typeface="Calibri" panose="020F0502020204030204" pitchFamily="34" charset="0"/>
                <a:cs typeface="Calibri" panose="020F0502020204030204" pitchFamily="34" charset="0"/>
              </a:rPr>
              <a:t>Result:</a:t>
            </a:r>
            <a:endParaRPr lang="en-IN" sz="1800" b="1"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lvl="1">
              <a:buFont typeface="Wingdings" panose="05000000000000000000" pitchFamily="2" charset="2"/>
              <a:buChar char="§"/>
            </a:pPr>
            <a:r>
              <a:rPr lang="en-US" sz="1600" b="1" i="0" u="none" strike="noStrike" dirty="0">
                <a:solidFill>
                  <a:srgbClr val="000000"/>
                </a:solidFill>
                <a:effectLst/>
                <a:latin typeface="Calibri" panose="020F0502020204030204" pitchFamily="34" charset="0"/>
              </a:rPr>
              <a:t>Average Salary of Employees</a:t>
            </a:r>
            <a:r>
              <a:rPr lang="en-US" sz="1200" dirty="0"/>
              <a:t>  </a:t>
            </a:r>
            <a:r>
              <a:rPr lang="en-US" sz="1600" b="0" i="0" u="none" strike="noStrike" dirty="0">
                <a:solidFill>
                  <a:srgbClr val="000000"/>
                </a:solidFill>
                <a:effectLst/>
                <a:latin typeface="Calibri" panose="020F0502020204030204" pitchFamily="34" charset="0"/>
              </a:rPr>
              <a:t>49983.03056</a:t>
            </a:r>
            <a:r>
              <a:rPr lang="en-US" sz="1200" dirty="0"/>
              <a:t> </a:t>
            </a:r>
          </a:p>
          <a:p>
            <a:pPr lvl="1">
              <a:buFont typeface="Wingdings" panose="05000000000000000000" pitchFamily="2" charset="2"/>
              <a:buChar char="§"/>
            </a:pPr>
            <a:r>
              <a:rPr lang="en-IN" sz="16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Function Used:</a:t>
            </a:r>
          </a:p>
          <a:p>
            <a:pPr marL="0" indent="0">
              <a:buNone/>
            </a:pPr>
            <a:r>
              <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=AVERAGE(SUMIFS(Sheet1!G:G,Sheet1!C:C,"Hired")/COUNTIF(Sheet1!C:C,"Hired"))</a:t>
            </a:r>
          </a:p>
          <a:p>
            <a:pPr lvl="1">
              <a:buFont typeface="Wingdings" panose="05000000000000000000" pitchFamily="2" charset="2"/>
              <a:buChar char="§"/>
            </a:pPr>
            <a:r>
              <a:rPr lang="en-IN" sz="1600" dirty="0">
                <a:solidFill>
                  <a:schemeClr val="bg1"/>
                </a:solidFill>
                <a:latin typeface="Calibri" panose="020F0502020204030204" pitchFamily="34" charset="0"/>
                <a:ea typeface="Calibri" panose="020F0502020204030204" pitchFamily="34" charset="0"/>
                <a:cs typeface="Times New Roman" panose="02020603050405020304" pitchFamily="18" charset="0"/>
              </a:rPr>
              <a:t>Below graph shows the average salaries of all departments are same for all candidates .It shows that the hiring team is recruiting candidates as per the pre defined salary bands of the organization. </a:t>
            </a:r>
          </a:p>
          <a:p>
            <a:pPr>
              <a:buFont typeface="Wingdings" panose="05000000000000000000" pitchFamily="2" charset="2"/>
              <a:buChar char="Ø"/>
            </a:pPr>
            <a:endParaRPr lang="en-IN"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Ø"/>
            </a:pPr>
            <a:endParaRPr lang="en-IN"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5" name="Table 4">
            <a:extLst>
              <a:ext uri="{FF2B5EF4-FFF2-40B4-BE49-F238E27FC236}">
                <a16:creationId xmlns:a16="http://schemas.microsoft.com/office/drawing/2014/main" id="{68557C52-A846-259A-12A2-AF43E8531BC1}"/>
              </a:ext>
            </a:extLst>
          </p:cNvPr>
          <p:cNvGraphicFramePr>
            <a:graphicFrameLocks noGrp="1"/>
          </p:cNvGraphicFramePr>
          <p:nvPr>
            <p:extLst>
              <p:ext uri="{D42A27DB-BD31-4B8C-83A1-F6EECF244321}">
                <p14:modId xmlns:p14="http://schemas.microsoft.com/office/powerpoint/2010/main" val="1019014763"/>
              </p:ext>
            </p:extLst>
          </p:nvPr>
        </p:nvGraphicFramePr>
        <p:xfrm>
          <a:off x="1625429" y="4019061"/>
          <a:ext cx="3708400" cy="2573496"/>
        </p:xfrm>
        <a:graphic>
          <a:graphicData uri="http://schemas.openxmlformats.org/drawingml/2006/table">
            <a:tbl>
              <a:tblPr/>
              <a:tblGrid>
                <a:gridCol w="2120900">
                  <a:extLst>
                    <a:ext uri="{9D8B030D-6E8A-4147-A177-3AD203B41FA5}">
                      <a16:colId xmlns:a16="http://schemas.microsoft.com/office/drawing/2014/main" val="1941764550"/>
                    </a:ext>
                  </a:extLst>
                </a:gridCol>
                <a:gridCol w="1587500">
                  <a:extLst>
                    <a:ext uri="{9D8B030D-6E8A-4147-A177-3AD203B41FA5}">
                      <a16:colId xmlns:a16="http://schemas.microsoft.com/office/drawing/2014/main" val="2940856914"/>
                    </a:ext>
                  </a:extLst>
                </a:gridCol>
              </a:tblGrid>
              <a:tr h="645636">
                <a:tc>
                  <a:txBody>
                    <a:bodyPr/>
                    <a:lstStyle/>
                    <a:p>
                      <a:pPr algn="l" fontAlgn="b"/>
                      <a:r>
                        <a:rPr lang="en-IN" sz="1100" b="1" i="0" u="none" strike="noStrike" dirty="0">
                          <a:solidFill>
                            <a:srgbClr val="FFFFFF"/>
                          </a:solidFill>
                          <a:effectLst/>
                          <a:latin typeface="Calibri" panose="020F0502020204030204" pitchFamily="34" charset="0"/>
                        </a:rPr>
                        <a:t>Departments</a:t>
                      </a:r>
                    </a:p>
                  </a:txBody>
                  <a:tcPr marL="7620" marR="7620" marT="7620" marB="0" anchor="b">
                    <a:lnL>
                      <a:noFill/>
                    </a:lnL>
                    <a:lnR>
                      <a:noFill/>
                    </a:lnR>
                    <a:lnT>
                      <a:noFill/>
                    </a:lnT>
                    <a:lnB w="6350" cap="flat" cmpd="sng" algn="ctr">
                      <a:solidFill>
                        <a:srgbClr val="DDEBF7"/>
                      </a:solidFill>
                      <a:prstDash val="solid"/>
                      <a:round/>
                      <a:headEnd type="none" w="med" len="med"/>
                      <a:tailEnd type="none" w="med" len="med"/>
                    </a:lnB>
                    <a:solidFill>
                      <a:srgbClr val="1F4E78"/>
                    </a:solidFill>
                  </a:tcPr>
                </a:tc>
                <a:tc>
                  <a:txBody>
                    <a:bodyPr/>
                    <a:lstStyle/>
                    <a:p>
                      <a:pPr algn="l" fontAlgn="b"/>
                      <a:r>
                        <a:rPr lang="en-IN" sz="1100" b="1" i="0" u="none" strike="noStrike">
                          <a:solidFill>
                            <a:srgbClr val="FFFFFF"/>
                          </a:solidFill>
                          <a:effectLst/>
                          <a:latin typeface="Calibri" panose="020F0502020204030204" pitchFamily="34" charset="0"/>
                        </a:rPr>
                        <a:t>Average of Offered Salary</a:t>
                      </a:r>
                    </a:p>
                  </a:txBody>
                  <a:tcPr marL="7620" marR="7620" marT="7620" marB="0" anchor="b">
                    <a:lnL>
                      <a:noFill/>
                    </a:lnL>
                    <a:lnR>
                      <a:noFill/>
                    </a:lnR>
                    <a:lnT>
                      <a:noFill/>
                    </a:lnT>
                    <a:lnB w="6350" cap="flat" cmpd="sng" algn="ctr">
                      <a:solidFill>
                        <a:srgbClr val="DDEBF7"/>
                      </a:solidFill>
                      <a:prstDash val="solid"/>
                      <a:round/>
                      <a:headEnd type="none" w="med" len="med"/>
                      <a:tailEnd type="none" w="med" len="med"/>
                    </a:lnB>
                    <a:solidFill>
                      <a:srgbClr val="1F4E78"/>
                    </a:solidFill>
                  </a:tcPr>
                </a:tc>
                <a:extLst>
                  <a:ext uri="{0D108BD9-81ED-4DB2-BD59-A6C34878D82A}">
                    <a16:rowId xmlns:a16="http://schemas.microsoft.com/office/drawing/2014/main" val="742797190"/>
                  </a:ext>
                </a:extLst>
              </a:tr>
              <a:tr h="159268">
                <a:tc>
                  <a:txBody>
                    <a:bodyPr/>
                    <a:lstStyle/>
                    <a:p>
                      <a:pPr algn="l" fontAlgn="b"/>
                      <a:r>
                        <a:rPr lang="en-IN" sz="1100" b="0" i="0" u="none" strike="noStrike">
                          <a:solidFill>
                            <a:srgbClr val="000000"/>
                          </a:solidFill>
                          <a:effectLst/>
                          <a:latin typeface="Calibri" panose="020F0502020204030204" pitchFamily="34" charset="0"/>
                        </a:rPr>
                        <a:t>Finance Department</a:t>
                      </a: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tc>
                  <a:txBody>
                    <a:bodyPr/>
                    <a:lstStyle/>
                    <a:p>
                      <a:pPr algn="r" fontAlgn="b"/>
                      <a:r>
                        <a:rPr lang="en-IN" sz="1100" b="0" i="0" u="none" strike="noStrike">
                          <a:solidFill>
                            <a:srgbClr val="000000"/>
                          </a:solidFill>
                          <a:effectLst/>
                          <a:latin typeface="Calibri" panose="020F0502020204030204" pitchFamily="34" charset="0"/>
                        </a:rPr>
                        <a:t>49628.00694</a:t>
                      </a: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extLst>
                  <a:ext uri="{0D108BD9-81ED-4DB2-BD59-A6C34878D82A}">
                    <a16:rowId xmlns:a16="http://schemas.microsoft.com/office/drawing/2014/main" val="1906381438"/>
                  </a:ext>
                </a:extLst>
              </a:tr>
              <a:tr h="159268">
                <a:tc>
                  <a:txBody>
                    <a:bodyPr/>
                    <a:lstStyle/>
                    <a:p>
                      <a:pPr algn="l" fontAlgn="b"/>
                      <a:r>
                        <a:rPr lang="en-IN" sz="1100" b="0" i="0" u="none" strike="noStrike">
                          <a:solidFill>
                            <a:srgbClr val="000000"/>
                          </a:solidFill>
                          <a:effectLst/>
                          <a:latin typeface="Calibri" panose="020F0502020204030204" pitchFamily="34" charset="0"/>
                        </a:rPr>
                        <a:t>General Management</a:t>
                      </a: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tc>
                  <a:txBody>
                    <a:bodyPr/>
                    <a:lstStyle/>
                    <a:p>
                      <a:pPr algn="r" fontAlgn="b"/>
                      <a:r>
                        <a:rPr lang="en-IN" sz="1100" b="0" i="0" u="none" strike="noStrike">
                          <a:solidFill>
                            <a:srgbClr val="000000"/>
                          </a:solidFill>
                          <a:effectLst/>
                          <a:latin typeface="Calibri" panose="020F0502020204030204" pitchFamily="34" charset="0"/>
                        </a:rPr>
                        <a:t>58722.09302</a:t>
                      </a: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extLst>
                  <a:ext uri="{0D108BD9-81ED-4DB2-BD59-A6C34878D82A}">
                    <a16:rowId xmlns:a16="http://schemas.microsoft.com/office/drawing/2014/main" val="2479736850"/>
                  </a:ext>
                </a:extLst>
              </a:tr>
              <a:tr h="159268">
                <a:tc>
                  <a:txBody>
                    <a:bodyPr/>
                    <a:lstStyle/>
                    <a:p>
                      <a:pPr algn="l" fontAlgn="b"/>
                      <a:r>
                        <a:rPr lang="en-IN" sz="1100" b="0" i="0" u="none" strike="noStrike">
                          <a:solidFill>
                            <a:srgbClr val="000000"/>
                          </a:solidFill>
                          <a:effectLst/>
                          <a:latin typeface="Calibri" panose="020F0502020204030204" pitchFamily="34" charset="0"/>
                        </a:rPr>
                        <a:t>Human Resource Department</a:t>
                      </a: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tc>
                  <a:txBody>
                    <a:bodyPr/>
                    <a:lstStyle/>
                    <a:p>
                      <a:pPr algn="r" fontAlgn="b"/>
                      <a:r>
                        <a:rPr lang="en-IN" sz="1100" b="0" i="0" u="none" strike="noStrike">
                          <a:solidFill>
                            <a:srgbClr val="000000"/>
                          </a:solidFill>
                          <a:effectLst/>
                          <a:latin typeface="Calibri" panose="020F0502020204030204" pitchFamily="34" charset="0"/>
                        </a:rPr>
                        <a:t>49002.27835</a:t>
                      </a: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extLst>
                  <a:ext uri="{0D108BD9-81ED-4DB2-BD59-A6C34878D82A}">
                    <a16:rowId xmlns:a16="http://schemas.microsoft.com/office/drawing/2014/main" val="3126103811"/>
                  </a:ext>
                </a:extLst>
              </a:tr>
              <a:tr h="159268">
                <a:tc>
                  <a:txBody>
                    <a:bodyPr/>
                    <a:lstStyle/>
                    <a:p>
                      <a:pPr algn="l" fontAlgn="b"/>
                      <a:r>
                        <a:rPr lang="en-IN" sz="1100" b="0" i="0" u="none" strike="noStrike">
                          <a:solidFill>
                            <a:srgbClr val="000000"/>
                          </a:solidFill>
                          <a:effectLst/>
                          <a:latin typeface="Calibri" panose="020F0502020204030204" pitchFamily="34" charset="0"/>
                        </a:rPr>
                        <a:t>Marketing Department</a:t>
                      </a: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tc>
                  <a:txBody>
                    <a:bodyPr/>
                    <a:lstStyle/>
                    <a:p>
                      <a:pPr algn="r" fontAlgn="b"/>
                      <a:r>
                        <a:rPr lang="en-IN" sz="1100" b="0" i="0" u="none" strike="noStrike">
                          <a:solidFill>
                            <a:srgbClr val="000000"/>
                          </a:solidFill>
                          <a:effectLst/>
                          <a:latin typeface="Calibri" panose="020F0502020204030204" pitchFamily="34" charset="0"/>
                        </a:rPr>
                        <a:t>48489.93538</a:t>
                      </a: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extLst>
                  <a:ext uri="{0D108BD9-81ED-4DB2-BD59-A6C34878D82A}">
                    <a16:rowId xmlns:a16="http://schemas.microsoft.com/office/drawing/2014/main" val="3860464701"/>
                  </a:ext>
                </a:extLst>
              </a:tr>
              <a:tr h="159268">
                <a:tc>
                  <a:txBody>
                    <a:bodyPr/>
                    <a:lstStyle/>
                    <a:p>
                      <a:pPr algn="l" fontAlgn="b"/>
                      <a:r>
                        <a:rPr lang="en-IN" sz="1100" b="0" i="0" u="none" strike="noStrike">
                          <a:solidFill>
                            <a:srgbClr val="000000"/>
                          </a:solidFill>
                          <a:effectLst/>
                          <a:latin typeface="Calibri" panose="020F0502020204030204" pitchFamily="34" charset="0"/>
                        </a:rPr>
                        <a:t>Operations Department</a:t>
                      </a: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tc>
                  <a:txBody>
                    <a:bodyPr/>
                    <a:lstStyle/>
                    <a:p>
                      <a:pPr algn="r" fontAlgn="b"/>
                      <a:r>
                        <a:rPr lang="en-IN" sz="1100" b="0" i="0" u="none" strike="noStrike">
                          <a:solidFill>
                            <a:srgbClr val="000000"/>
                          </a:solidFill>
                          <a:effectLst/>
                          <a:latin typeface="Calibri" panose="020F0502020204030204" pitchFamily="34" charset="0"/>
                        </a:rPr>
                        <a:t>49151.35438</a:t>
                      </a: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extLst>
                  <a:ext uri="{0D108BD9-81ED-4DB2-BD59-A6C34878D82A}">
                    <a16:rowId xmlns:a16="http://schemas.microsoft.com/office/drawing/2014/main" val="213906585"/>
                  </a:ext>
                </a:extLst>
              </a:tr>
              <a:tr h="159268">
                <a:tc>
                  <a:txBody>
                    <a:bodyPr/>
                    <a:lstStyle/>
                    <a:p>
                      <a:pPr algn="l" fontAlgn="b"/>
                      <a:r>
                        <a:rPr lang="en-IN" sz="1100" b="0" i="0" u="none" strike="noStrike">
                          <a:solidFill>
                            <a:srgbClr val="000000"/>
                          </a:solidFill>
                          <a:effectLst/>
                          <a:latin typeface="Calibri" panose="020F0502020204030204" pitchFamily="34" charset="0"/>
                        </a:rPr>
                        <a:t>Production Department</a:t>
                      </a: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tc>
                  <a:txBody>
                    <a:bodyPr/>
                    <a:lstStyle/>
                    <a:p>
                      <a:pPr algn="r" fontAlgn="b"/>
                      <a:r>
                        <a:rPr lang="en-IN" sz="1100" b="0" i="0" u="none" strike="noStrike">
                          <a:solidFill>
                            <a:srgbClr val="000000"/>
                          </a:solidFill>
                          <a:effectLst/>
                          <a:latin typeface="Calibri" panose="020F0502020204030204" pitchFamily="34" charset="0"/>
                        </a:rPr>
                        <a:t>49448.48421</a:t>
                      </a: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extLst>
                  <a:ext uri="{0D108BD9-81ED-4DB2-BD59-A6C34878D82A}">
                    <a16:rowId xmlns:a16="http://schemas.microsoft.com/office/drawing/2014/main" val="2729276527"/>
                  </a:ext>
                </a:extLst>
              </a:tr>
              <a:tr h="159268">
                <a:tc>
                  <a:txBody>
                    <a:bodyPr/>
                    <a:lstStyle/>
                    <a:p>
                      <a:pPr algn="l" fontAlgn="b"/>
                      <a:r>
                        <a:rPr lang="en-IN" sz="1100" b="0" i="0" u="none" strike="noStrike">
                          <a:solidFill>
                            <a:srgbClr val="000000"/>
                          </a:solidFill>
                          <a:effectLst/>
                          <a:latin typeface="Calibri" panose="020F0502020204030204" pitchFamily="34" charset="0"/>
                        </a:rPr>
                        <a:t>Purchase Department</a:t>
                      </a: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tc>
                  <a:txBody>
                    <a:bodyPr/>
                    <a:lstStyle/>
                    <a:p>
                      <a:pPr algn="r" fontAlgn="b"/>
                      <a:r>
                        <a:rPr lang="en-IN" sz="1100" b="0" i="0" u="none" strike="noStrike">
                          <a:solidFill>
                            <a:srgbClr val="000000"/>
                          </a:solidFill>
                          <a:effectLst/>
                          <a:latin typeface="Calibri" panose="020F0502020204030204" pitchFamily="34" charset="0"/>
                        </a:rPr>
                        <a:t>52564.77477</a:t>
                      </a: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extLst>
                  <a:ext uri="{0D108BD9-81ED-4DB2-BD59-A6C34878D82A}">
                    <a16:rowId xmlns:a16="http://schemas.microsoft.com/office/drawing/2014/main" val="2201577180"/>
                  </a:ext>
                </a:extLst>
              </a:tr>
              <a:tr h="159268">
                <a:tc>
                  <a:txBody>
                    <a:bodyPr/>
                    <a:lstStyle/>
                    <a:p>
                      <a:pPr algn="l" fontAlgn="b"/>
                      <a:r>
                        <a:rPr lang="en-IN" sz="1100" b="0" i="0" u="none" strike="noStrike">
                          <a:solidFill>
                            <a:srgbClr val="000000"/>
                          </a:solidFill>
                          <a:effectLst/>
                          <a:latin typeface="Calibri" panose="020F0502020204030204" pitchFamily="34" charset="0"/>
                        </a:rPr>
                        <a:t>Sales Department</a:t>
                      </a: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tc>
                  <a:txBody>
                    <a:bodyPr/>
                    <a:lstStyle/>
                    <a:p>
                      <a:pPr algn="r" fontAlgn="b"/>
                      <a:r>
                        <a:rPr lang="en-IN" sz="1100" b="0" i="0" u="none" strike="noStrike">
                          <a:solidFill>
                            <a:srgbClr val="000000"/>
                          </a:solidFill>
                          <a:effectLst/>
                          <a:latin typeface="Calibri" panose="020F0502020204030204" pitchFamily="34" charset="0"/>
                        </a:rPr>
                        <a:t>49311.29593</a:t>
                      </a: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extLst>
                  <a:ext uri="{0D108BD9-81ED-4DB2-BD59-A6C34878D82A}">
                    <a16:rowId xmlns:a16="http://schemas.microsoft.com/office/drawing/2014/main" val="4105684210"/>
                  </a:ext>
                </a:extLst>
              </a:tr>
              <a:tr h="159268">
                <a:tc>
                  <a:txBody>
                    <a:bodyPr/>
                    <a:lstStyle/>
                    <a:p>
                      <a:pPr algn="l" fontAlgn="b"/>
                      <a:r>
                        <a:rPr lang="en-IN" sz="1100" b="0" i="0" u="none" strike="noStrike">
                          <a:solidFill>
                            <a:srgbClr val="000000"/>
                          </a:solidFill>
                          <a:effectLst/>
                          <a:latin typeface="Calibri" panose="020F0502020204030204" pitchFamily="34" charset="0"/>
                        </a:rPr>
                        <a:t>Service Department</a:t>
                      </a: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tc>
                  <a:txBody>
                    <a:bodyPr/>
                    <a:lstStyle/>
                    <a:p>
                      <a:pPr algn="r" fontAlgn="b"/>
                      <a:r>
                        <a:rPr lang="en-IN" sz="1100" b="0" i="0" u="none" strike="noStrike">
                          <a:solidFill>
                            <a:srgbClr val="000000"/>
                          </a:solidFill>
                          <a:effectLst/>
                          <a:latin typeface="Calibri" panose="020F0502020204030204" pitchFamily="34" charset="0"/>
                        </a:rPr>
                        <a:t>50629.88418</a:t>
                      </a: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extLst>
                  <a:ext uri="{0D108BD9-81ED-4DB2-BD59-A6C34878D82A}">
                    <a16:rowId xmlns:a16="http://schemas.microsoft.com/office/drawing/2014/main" val="4047490960"/>
                  </a:ext>
                </a:extLst>
              </a:tr>
              <a:tr h="159268">
                <a:tc>
                  <a:txBody>
                    <a:bodyPr/>
                    <a:lstStyle/>
                    <a:p>
                      <a:pPr algn="l" fontAlgn="b"/>
                      <a:r>
                        <a:rPr lang="en-IN" sz="1100" b="0" i="0" u="none" strike="noStrike">
                          <a:solidFill>
                            <a:srgbClr val="000000"/>
                          </a:solidFill>
                          <a:effectLst/>
                          <a:latin typeface="Calibri" panose="020F0502020204030204" pitchFamily="34" charset="0"/>
                        </a:rPr>
                        <a:t>(blank)</a:t>
                      </a: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tc>
                  <a:txBody>
                    <a:bodyPr/>
                    <a:lstStyle/>
                    <a:p>
                      <a:pPr algn="l" fontAlgn="b"/>
                      <a:endParaRPr lang="en-IN"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DDEBF7"/>
                      </a:solidFill>
                      <a:prstDash val="solid"/>
                      <a:round/>
                      <a:headEnd type="none" w="med" len="med"/>
                      <a:tailEnd type="none" w="med" len="med"/>
                    </a:lnT>
                    <a:lnB w="6350" cap="flat" cmpd="sng" algn="ctr">
                      <a:solidFill>
                        <a:srgbClr val="DDEBF7"/>
                      </a:solidFill>
                      <a:prstDash val="solid"/>
                      <a:round/>
                      <a:headEnd type="none" w="med" len="med"/>
                      <a:tailEnd type="none" w="med" len="med"/>
                    </a:lnB>
                    <a:solidFill>
                      <a:srgbClr val="BDD7EE"/>
                    </a:solidFill>
                  </a:tcPr>
                </a:tc>
                <a:extLst>
                  <a:ext uri="{0D108BD9-81ED-4DB2-BD59-A6C34878D82A}">
                    <a16:rowId xmlns:a16="http://schemas.microsoft.com/office/drawing/2014/main" val="3750298179"/>
                  </a:ext>
                </a:extLst>
              </a:tr>
              <a:tr h="159268">
                <a:tc>
                  <a:txBody>
                    <a:bodyPr/>
                    <a:lstStyle/>
                    <a:p>
                      <a:pPr algn="l" fontAlgn="b"/>
                      <a:r>
                        <a:rPr lang="en-IN" sz="1100" b="1" i="0" u="none" strike="noStrike">
                          <a:solidFill>
                            <a:srgbClr val="FFFFFF"/>
                          </a:solidFill>
                          <a:effectLst/>
                          <a:latin typeface="Calibri" panose="020F0502020204030204" pitchFamily="34" charset="0"/>
                        </a:rPr>
                        <a:t>Grand Total</a:t>
                      </a:r>
                    </a:p>
                  </a:txBody>
                  <a:tcPr marL="7620" marR="7620" marT="7620" marB="0" anchor="b">
                    <a:lnL>
                      <a:noFill/>
                    </a:lnL>
                    <a:lnR>
                      <a:noFill/>
                    </a:lnR>
                    <a:lnT w="6350" cap="flat" cmpd="sng" algn="ctr">
                      <a:solidFill>
                        <a:srgbClr val="DDEBF7"/>
                      </a:solidFill>
                      <a:prstDash val="solid"/>
                      <a:round/>
                      <a:headEnd type="none" w="med" len="med"/>
                      <a:tailEnd type="none" w="med" len="med"/>
                    </a:lnT>
                    <a:lnB>
                      <a:noFill/>
                    </a:lnB>
                    <a:solidFill>
                      <a:srgbClr val="1F4E78"/>
                    </a:solidFill>
                  </a:tcPr>
                </a:tc>
                <a:tc>
                  <a:txBody>
                    <a:bodyPr/>
                    <a:lstStyle/>
                    <a:p>
                      <a:pPr algn="r" fontAlgn="b"/>
                      <a:r>
                        <a:rPr lang="en-IN" sz="1100" b="1" i="0" u="none" strike="noStrike" dirty="0">
                          <a:solidFill>
                            <a:srgbClr val="FFFFFF"/>
                          </a:solidFill>
                          <a:effectLst/>
                          <a:latin typeface="Calibri" panose="020F0502020204030204" pitchFamily="34" charset="0"/>
                        </a:rPr>
                        <a:t>49983.03056</a:t>
                      </a:r>
                    </a:p>
                  </a:txBody>
                  <a:tcPr marL="7620" marR="7620" marT="7620" marB="0" anchor="b">
                    <a:lnL>
                      <a:noFill/>
                    </a:lnL>
                    <a:lnR>
                      <a:noFill/>
                    </a:lnR>
                    <a:lnT w="6350" cap="flat" cmpd="sng" algn="ctr">
                      <a:solidFill>
                        <a:srgbClr val="DDEBF7"/>
                      </a:solidFill>
                      <a:prstDash val="solid"/>
                      <a:round/>
                      <a:headEnd type="none" w="med" len="med"/>
                      <a:tailEnd type="none" w="med" len="med"/>
                    </a:lnT>
                    <a:lnB>
                      <a:noFill/>
                    </a:lnB>
                    <a:solidFill>
                      <a:srgbClr val="1F4E78"/>
                    </a:solidFill>
                  </a:tcPr>
                </a:tc>
                <a:extLst>
                  <a:ext uri="{0D108BD9-81ED-4DB2-BD59-A6C34878D82A}">
                    <a16:rowId xmlns:a16="http://schemas.microsoft.com/office/drawing/2014/main" val="3169813479"/>
                  </a:ext>
                </a:extLst>
              </a:tr>
            </a:tbl>
          </a:graphicData>
        </a:graphic>
      </p:graphicFrame>
      <p:pic>
        <p:nvPicPr>
          <p:cNvPr id="7" name="Picture 6">
            <a:extLst>
              <a:ext uri="{FF2B5EF4-FFF2-40B4-BE49-F238E27FC236}">
                <a16:creationId xmlns:a16="http://schemas.microsoft.com/office/drawing/2014/main" id="{1CA93750-7A75-67D5-D699-3D216FF54AED}"/>
              </a:ext>
            </a:extLst>
          </p:cNvPr>
          <p:cNvPicPr>
            <a:picLocks noChangeAspect="1"/>
          </p:cNvPicPr>
          <p:nvPr/>
        </p:nvPicPr>
        <p:blipFill>
          <a:blip r:embed="rId2"/>
          <a:stretch>
            <a:fillRect/>
          </a:stretch>
        </p:blipFill>
        <p:spPr>
          <a:xfrm>
            <a:off x="6273458" y="4019061"/>
            <a:ext cx="4895512" cy="2371550"/>
          </a:xfrm>
          <a:prstGeom prst="rect">
            <a:avLst/>
          </a:prstGeom>
        </p:spPr>
      </p:pic>
    </p:spTree>
    <p:extLst>
      <p:ext uri="{BB962C8B-B14F-4D97-AF65-F5344CB8AC3E}">
        <p14:creationId xmlns:p14="http://schemas.microsoft.com/office/powerpoint/2010/main" val="2340932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gradFill>
          <a:gsLst>
            <a:gs pos="100000">
              <a:schemeClr val="bg2">
                <a:tint val="97000"/>
                <a:hueMod val="92000"/>
                <a:satMod val="169000"/>
                <a:lumMod val="68000"/>
                <a:lumOff val="32000"/>
              </a:schemeClr>
            </a:gs>
            <a:gs pos="100000">
              <a:schemeClr val="bg2">
                <a:shade val="96000"/>
                <a:satMod val="120000"/>
                <a:lumMod val="0"/>
              </a:schemeClr>
            </a:gs>
          </a:gsLst>
          <a:lin ang="6120000" scaled="1"/>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6905A6-1969-2376-0520-45693D975F5D}"/>
              </a:ext>
            </a:extLst>
          </p:cNvPr>
          <p:cNvSpPr>
            <a:spLocks noGrp="1"/>
          </p:cNvSpPr>
          <p:nvPr>
            <p:ph idx="1"/>
          </p:nvPr>
        </p:nvSpPr>
        <p:spPr>
          <a:xfrm>
            <a:off x="619812" y="2471759"/>
            <a:ext cx="10820400" cy="4145857"/>
          </a:xfrm>
        </p:spPr>
        <p:txBody>
          <a:bodyPr>
            <a:normAutofit/>
          </a:bodyPr>
          <a:lstStyle/>
          <a:p>
            <a:pPr>
              <a:buFont typeface="Wingdings" panose="05000000000000000000" pitchFamily="2" charset="2"/>
              <a:buChar char="Ø"/>
            </a:pP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 Task: </a:t>
            </a:r>
            <a:r>
              <a:rPr lang="en-US" sz="1800" dirty="0">
                <a:solidFill>
                  <a:schemeClr val="bg1"/>
                </a:solidFill>
                <a:latin typeface="Calibri" panose="020F0502020204030204" pitchFamily="34" charset="0"/>
                <a:ea typeface="Calibri" panose="020F0502020204030204" pitchFamily="34" charset="0"/>
                <a:cs typeface="Calibri" panose="020F0502020204030204" pitchFamily="34" charset="0"/>
              </a:rPr>
              <a:t>Create class intervals for the salaries in the company. This will help you understand the salary distribution.</a:t>
            </a:r>
          </a:p>
          <a:p>
            <a:pPr>
              <a:buFont typeface="Wingdings" panose="05000000000000000000" pitchFamily="2" charset="2"/>
              <a:buChar char="Ø"/>
            </a:pP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Result:</a:t>
            </a:r>
          </a:p>
          <a:p>
            <a:pPr lvl="1">
              <a:buFont typeface="Wingdings" panose="05000000000000000000" pitchFamily="2" charset="2"/>
              <a:buChar char="§"/>
            </a:pP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From the below graph we observe that the maximum salary offered are in intervals of 40001-80000 and minimum salary offered are in intervals 120001 – 400000.</a:t>
            </a:r>
            <a:endParaRPr lang="en-IN"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514F634-EE11-185E-B014-61B9C2D58DC8}"/>
              </a:ext>
            </a:extLst>
          </p:cNvPr>
          <p:cNvSpPr txBox="1"/>
          <p:nvPr/>
        </p:nvSpPr>
        <p:spPr>
          <a:xfrm>
            <a:off x="685800" y="963654"/>
            <a:ext cx="10255044" cy="1508105"/>
          </a:xfrm>
          <a:prstGeom prst="rect">
            <a:avLst/>
          </a:prstGeom>
          <a:gradFill>
            <a:gsLst>
              <a:gs pos="100000">
                <a:schemeClr val="bg2">
                  <a:tint val="97000"/>
                  <a:hueMod val="92000"/>
                  <a:satMod val="169000"/>
                  <a:lumMod val="68000"/>
                  <a:lumOff val="32000"/>
                </a:schemeClr>
              </a:gs>
              <a:gs pos="100000">
                <a:schemeClr val="bg2">
                  <a:shade val="96000"/>
                  <a:satMod val="120000"/>
                  <a:lumMod val="0"/>
                </a:schemeClr>
              </a:gs>
            </a:gsLst>
            <a:lin ang="6120000" scaled="1"/>
          </a:gradFill>
        </p:spPr>
        <p:txBody>
          <a:bodyPr wrap="square">
            <a:spAutoFit/>
          </a:bodyPr>
          <a:lstStyle/>
          <a:p>
            <a:pPr marL="285750" indent="-285750">
              <a:buFont typeface="Wingdings" panose="05000000000000000000" pitchFamily="2" charset="2"/>
              <a:buChar char="v"/>
            </a:pPr>
            <a:r>
              <a:rPr lang="en-IN" sz="28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Salary Distribution: </a:t>
            </a:r>
          </a:p>
          <a:p>
            <a:pPr lvl="1"/>
            <a:r>
              <a:rPr lang="en-IN" dirty="0">
                <a:solidFill>
                  <a:schemeClr val="bg1"/>
                </a:solidFill>
                <a:effectLst/>
                <a:latin typeface="Calibri" panose="020F0502020204030204" pitchFamily="34" charset="0"/>
                <a:ea typeface="Calibri" panose="020F0502020204030204" pitchFamily="34" charset="0"/>
                <a:cs typeface="Calibri" panose="020F0502020204030204" pitchFamily="34" charset="0"/>
              </a:rPr>
              <a:t>Class intervals represent ranges of values, in this case, salary ranges. The class interval is the difference between the upper and lower limits of a class.</a:t>
            </a:r>
          </a:p>
          <a:p>
            <a:pPr marL="285750" indent="-285750">
              <a:buFont typeface="Wingdings" panose="05000000000000000000" pitchFamily="2" charset="2"/>
              <a:buChar char="v"/>
            </a:pPr>
            <a:endParaRPr lang="en-IN" sz="2800" b="1" dirty="0">
              <a:solidFill>
                <a:schemeClr val="bg1"/>
              </a:solidFill>
            </a:endParaRPr>
          </a:p>
        </p:txBody>
      </p:sp>
      <p:pic>
        <p:nvPicPr>
          <p:cNvPr id="17" name="Picture 16">
            <a:extLst>
              <a:ext uri="{FF2B5EF4-FFF2-40B4-BE49-F238E27FC236}">
                <a16:creationId xmlns:a16="http://schemas.microsoft.com/office/drawing/2014/main" id="{BB48FE0B-04B1-9F3D-75AB-7602A88732D6}"/>
              </a:ext>
            </a:extLst>
          </p:cNvPr>
          <p:cNvPicPr>
            <a:picLocks noChangeAspect="1"/>
          </p:cNvPicPr>
          <p:nvPr/>
        </p:nvPicPr>
        <p:blipFill>
          <a:blip r:embed="rId2"/>
          <a:stretch>
            <a:fillRect/>
          </a:stretch>
        </p:blipFill>
        <p:spPr>
          <a:xfrm>
            <a:off x="1267824" y="4172335"/>
            <a:ext cx="3718560" cy="2209800"/>
          </a:xfrm>
          <a:prstGeom prst="rect">
            <a:avLst/>
          </a:prstGeom>
        </p:spPr>
      </p:pic>
      <p:pic>
        <p:nvPicPr>
          <p:cNvPr id="28" name="Picture 27">
            <a:extLst>
              <a:ext uri="{FF2B5EF4-FFF2-40B4-BE49-F238E27FC236}">
                <a16:creationId xmlns:a16="http://schemas.microsoft.com/office/drawing/2014/main" id="{F1D83642-335A-37E0-4DD5-DBD702CEC77B}"/>
              </a:ext>
            </a:extLst>
          </p:cNvPr>
          <p:cNvPicPr>
            <a:picLocks noChangeAspect="1"/>
          </p:cNvPicPr>
          <p:nvPr/>
        </p:nvPicPr>
        <p:blipFill>
          <a:blip r:embed="rId3"/>
          <a:stretch>
            <a:fillRect/>
          </a:stretch>
        </p:blipFill>
        <p:spPr>
          <a:xfrm>
            <a:off x="5727291" y="4114402"/>
            <a:ext cx="5408772" cy="2325665"/>
          </a:xfrm>
          <a:prstGeom prst="rect">
            <a:avLst/>
          </a:prstGeom>
        </p:spPr>
      </p:pic>
    </p:spTree>
    <p:extLst>
      <p:ext uri="{BB962C8B-B14F-4D97-AF65-F5344CB8AC3E}">
        <p14:creationId xmlns:p14="http://schemas.microsoft.com/office/powerpoint/2010/main" val="1285079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gradFill>
          <a:gsLst>
            <a:gs pos="100000">
              <a:schemeClr val="bg2">
                <a:tint val="97000"/>
                <a:hueMod val="92000"/>
                <a:satMod val="169000"/>
                <a:lumMod val="68000"/>
                <a:lumOff val="32000"/>
              </a:schemeClr>
            </a:gs>
            <a:gs pos="100000">
              <a:schemeClr val="bg2">
                <a:shade val="96000"/>
                <a:satMod val="120000"/>
                <a:lumMod val="0"/>
              </a:schemeClr>
            </a:gs>
          </a:gsLst>
          <a:lin ang="6120000" scaled="1"/>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DA49E4-34D0-10A5-15C2-2A6D02BF6588}"/>
              </a:ext>
            </a:extLst>
          </p:cNvPr>
          <p:cNvSpPr>
            <a:spLocks noGrp="1"/>
          </p:cNvSpPr>
          <p:nvPr>
            <p:ph idx="1"/>
          </p:nvPr>
        </p:nvSpPr>
        <p:spPr>
          <a:xfrm>
            <a:off x="752475" y="1847850"/>
            <a:ext cx="10820400" cy="4457700"/>
          </a:xfrm>
        </p:spPr>
        <p:txBody>
          <a:bodyPr/>
          <a:lstStyle/>
          <a:p>
            <a:pPr>
              <a:lnSpc>
                <a:spcPct val="107000"/>
              </a:lnSpc>
              <a:spcAft>
                <a:spcPts val="800"/>
              </a:spcAft>
              <a:buFont typeface="Wingdings" panose="05000000000000000000" pitchFamily="2" charset="2"/>
              <a:buChar char="Ø"/>
            </a:pPr>
            <a:r>
              <a:rPr lang="en-IN" sz="24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Task: </a:t>
            </a:r>
            <a:r>
              <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Use a pie chart, bar graph, or any other suitable visualization to show the proportion of people working in different departments.</a:t>
            </a:r>
          </a:p>
          <a:p>
            <a:pPr>
              <a:lnSpc>
                <a:spcPct val="107000"/>
              </a:lnSpc>
              <a:spcAft>
                <a:spcPts val="800"/>
              </a:spcAft>
              <a:buFont typeface="Wingdings" panose="05000000000000000000" pitchFamily="2" charset="2"/>
              <a:buChar char="Ø"/>
            </a:pPr>
            <a:r>
              <a:rPr lang="en-IN" sz="20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Result: </a:t>
            </a:r>
            <a:r>
              <a:rPr lang="en-IN" sz="1800" dirty="0">
                <a:solidFill>
                  <a:schemeClr val="bg1"/>
                </a:solidFill>
                <a:latin typeface="Calibri" panose="020F0502020204030204" pitchFamily="34" charset="0"/>
                <a:ea typeface="Calibri" panose="020F0502020204030204" pitchFamily="34" charset="0"/>
                <a:cs typeface="Times New Roman" panose="02020603050405020304" pitchFamily="18" charset="0"/>
              </a:rPr>
              <a:t>The below graph shows the number of people working in each department. Maximum number of people are hired for Operations Department and Service Department.</a:t>
            </a:r>
          </a:p>
        </p:txBody>
      </p:sp>
      <p:sp>
        <p:nvSpPr>
          <p:cNvPr id="5" name="TextBox 4">
            <a:extLst>
              <a:ext uri="{FF2B5EF4-FFF2-40B4-BE49-F238E27FC236}">
                <a16:creationId xmlns:a16="http://schemas.microsoft.com/office/drawing/2014/main" id="{15B91FD7-61E8-D474-679F-3D5FD496166D}"/>
              </a:ext>
            </a:extLst>
          </p:cNvPr>
          <p:cNvSpPr txBox="1"/>
          <p:nvPr/>
        </p:nvSpPr>
        <p:spPr>
          <a:xfrm>
            <a:off x="685800" y="876584"/>
            <a:ext cx="9972675" cy="738664"/>
          </a:xfrm>
          <a:prstGeom prst="rect">
            <a:avLst/>
          </a:prstGeom>
          <a:gradFill>
            <a:gsLst>
              <a:gs pos="100000">
                <a:schemeClr val="bg2">
                  <a:tint val="97000"/>
                  <a:hueMod val="92000"/>
                  <a:satMod val="169000"/>
                  <a:lumMod val="68000"/>
                  <a:lumOff val="32000"/>
                </a:schemeClr>
              </a:gs>
              <a:gs pos="100000">
                <a:schemeClr val="bg2">
                  <a:shade val="96000"/>
                  <a:satMod val="120000"/>
                  <a:lumMod val="0"/>
                </a:schemeClr>
              </a:gs>
            </a:gsLst>
            <a:lin ang="6120000" scaled="1"/>
          </a:gradFill>
        </p:spPr>
        <p:txBody>
          <a:bodyPr wrap="square">
            <a:spAutoFit/>
          </a:bodyPr>
          <a:lstStyle/>
          <a:p>
            <a:pPr marL="285750" indent="-285750">
              <a:buFont typeface="Wingdings" panose="05000000000000000000" pitchFamily="2" charset="2"/>
              <a:buChar char="v"/>
            </a:pPr>
            <a:r>
              <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r>
              <a:rPr lang="en-IN" sz="24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Departmental Analysis</a:t>
            </a:r>
            <a:r>
              <a:rPr lang="en-IN" sz="24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p>
          <a:p>
            <a:pPr lvl="1"/>
            <a:r>
              <a:rPr lang="en-IN"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Visualizing data through charts and plots is a crucial part of data analysis.</a:t>
            </a:r>
            <a:endParaRPr lang="en-IN" dirty="0">
              <a:solidFill>
                <a:schemeClr val="bg1"/>
              </a:solidFill>
            </a:endParaRPr>
          </a:p>
        </p:txBody>
      </p:sp>
      <p:graphicFrame>
        <p:nvGraphicFramePr>
          <p:cNvPr id="11" name="Table 10">
            <a:extLst>
              <a:ext uri="{FF2B5EF4-FFF2-40B4-BE49-F238E27FC236}">
                <a16:creationId xmlns:a16="http://schemas.microsoft.com/office/drawing/2014/main" id="{1B9C37C6-04E3-B6BD-9317-1AAD9614E887}"/>
              </a:ext>
            </a:extLst>
          </p:cNvPr>
          <p:cNvGraphicFramePr>
            <a:graphicFrameLocks noGrp="1"/>
          </p:cNvGraphicFramePr>
          <p:nvPr>
            <p:extLst>
              <p:ext uri="{D42A27DB-BD31-4B8C-83A1-F6EECF244321}">
                <p14:modId xmlns:p14="http://schemas.microsoft.com/office/powerpoint/2010/main" val="2106832314"/>
              </p:ext>
            </p:extLst>
          </p:nvPr>
        </p:nvGraphicFramePr>
        <p:xfrm>
          <a:off x="1232216" y="3804812"/>
          <a:ext cx="3546742" cy="2344995"/>
        </p:xfrm>
        <a:graphic>
          <a:graphicData uri="http://schemas.openxmlformats.org/drawingml/2006/table">
            <a:tbl>
              <a:tblPr/>
              <a:tblGrid>
                <a:gridCol w="1953916">
                  <a:extLst>
                    <a:ext uri="{9D8B030D-6E8A-4147-A177-3AD203B41FA5}">
                      <a16:colId xmlns:a16="http://schemas.microsoft.com/office/drawing/2014/main" val="991347090"/>
                    </a:ext>
                  </a:extLst>
                </a:gridCol>
                <a:gridCol w="1592826">
                  <a:extLst>
                    <a:ext uri="{9D8B030D-6E8A-4147-A177-3AD203B41FA5}">
                      <a16:colId xmlns:a16="http://schemas.microsoft.com/office/drawing/2014/main" val="3465819559"/>
                    </a:ext>
                  </a:extLst>
                </a:gridCol>
              </a:tblGrid>
              <a:tr h="0">
                <a:tc>
                  <a:txBody>
                    <a:bodyPr/>
                    <a:lstStyle/>
                    <a:p>
                      <a:pPr algn="l" fontAlgn="b"/>
                      <a:r>
                        <a:rPr lang="en-IN" sz="1100" b="1" i="0" u="none" strike="noStrike" dirty="0">
                          <a:solidFill>
                            <a:srgbClr val="FFFFFF"/>
                          </a:solidFill>
                          <a:effectLst/>
                          <a:latin typeface="Calibri" panose="020F0502020204030204" pitchFamily="34" charset="0"/>
                        </a:rPr>
                        <a:t>Proportion of people working in different </a:t>
                      </a:r>
                      <a:r>
                        <a:rPr lang="en-IN" sz="1100" b="1" i="0" u="none" strike="noStrike" dirty="0" err="1">
                          <a:solidFill>
                            <a:srgbClr val="FFFFFF"/>
                          </a:solidFill>
                          <a:effectLst/>
                          <a:latin typeface="Calibri" panose="020F0502020204030204" pitchFamily="34" charset="0"/>
                        </a:rPr>
                        <a:t>deptartments</a:t>
                      </a:r>
                      <a:endParaRPr lang="en-IN" sz="1100" b="1" i="0" u="none" strike="noStrike" dirty="0">
                        <a:solidFill>
                          <a:srgbClr val="FFFFFF"/>
                        </a:solidFill>
                        <a:effectLst/>
                        <a:latin typeface="Calibri" panose="020F0502020204030204" pitchFamily="34" charset="0"/>
                      </a:endParaRPr>
                    </a:p>
                  </a:txBody>
                  <a:tcPr marL="7620" marR="7620" marT="7620" marB="0" anchor="b">
                    <a:lnL>
                      <a:noFill/>
                    </a:lnL>
                    <a:lnR>
                      <a:noFill/>
                    </a:lnR>
                    <a:lnT>
                      <a:noFill/>
                    </a:lnT>
                    <a:lnB w="12700" cap="flat" cmpd="sng" algn="ctr">
                      <a:solidFill>
                        <a:srgbClr val="FFFFFF"/>
                      </a:solidFill>
                      <a:prstDash val="solid"/>
                      <a:round/>
                      <a:headEnd type="none" w="med" len="med"/>
                      <a:tailEnd type="none" w="med" len="med"/>
                    </a:lnB>
                    <a:solidFill>
                      <a:srgbClr val="000000"/>
                    </a:solidFill>
                  </a:tcPr>
                </a:tc>
                <a:tc>
                  <a:txBody>
                    <a:bodyPr/>
                    <a:lstStyle/>
                    <a:p>
                      <a:pPr algn="l" fontAlgn="b"/>
                      <a:r>
                        <a:rPr lang="en-IN" sz="1100" b="1" i="0" u="none" strike="noStrike" dirty="0">
                          <a:solidFill>
                            <a:srgbClr val="FFFFFF"/>
                          </a:solidFill>
                          <a:effectLst/>
                          <a:latin typeface="Calibri" panose="020F0502020204030204" pitchFamily="34" charset="0"/>
                        </a:rPr>
                        <a:t>Number of People</a:t>
                      </a:r>
                    </a:p>
                  </a:txBody>
                  <a:tcPr marL="7620" marR="7620" marT="7620" marB="0" anchor="b">
                    <a:lnL>
                      <a:noFill/>
                    </a:lnL>
                    <a:lnR>
                      <a:noFill/>
                    </a:lnR>
                    <a:lnT>
                      <a:noFill/>
                    </a:lnT>
                    <a:lnB w="1270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3754868036"/>
                  </a:ext>
                </a:extLst>
              </a:tr>
              <a:tr h="222455">
                <a:tc>
                  <a:txBody>
                    <a:bodyPr/>
                    <a:lstStyle/>
                    <a:p>
                      <a:pPr algn="l" fontAlgn="b"/>
                      <a:r>
                        <a:rPr lang="en-IN" sz="1100" b="0" i="0" u="none" strike="noStrike">
                          <a:solidFill>
                            <a:srgbClr val="FFFFFF"/>
                          </a:solidFill>
                          <a:effectLst/>
                          <a:latin typeface="Calibri" panose="020F0502020204030204" pitchFamily="34" charset="0"/>
                        </a:rPr>
                        <a:t>Finance Department</a:t>
                      </a:r>
                    </a:p>
                  </a:txBody>
                  <a:tcPr marL="7620" marR="7620" marT="7620" marB="0" anchor="b">
                    <a:lnL>
                      <a:noFill/>
                    </a:lnL>
                    <a:lnR>
                      <a:noFill/>
                    </a:lnR>
                    <a:lnT w="12700" cap="flat" cmpd="sng" algn="ctr">
                      <a:solidFill>
                        <a:srgbClr val="FFFFFF"/>
                      </a:solidFill>
                      <a:prstDash val="solid"/>
                      <a:round/>
                      <a:headEnd type="none" w="med" len="med"/>
                      <a:tailEnd type="none" w="med" len="med"/>
                    </a:lnT>
                    <a:lnB>
                      <a:noFill/>
                    </a:lnB>
                    <a:solidFill>
                      <a:srgbClr val="2F75B5"/>
                    </a:solidFill>
                  </a:tcPr>
                </a:tc>
                <a:tc>
                  <a:txBody>
                    <a:bodyPr/>
                    <a:lstStyle/>
                    <a:p>
                      <a:pPr algn="r" fontAlgn="ctr"/>
                      <a:r>
                        <a:rPr lang="en-IN" sz="1100" b="0" i="0" u="none" strike="noStrike" dirty="0">
                          <a:solidFill>
                            <a:srgbClr val="FFFFFF"/>
                          </a:solidFill>
                          <a:effectLst/>
                          <a:latin typeface="Calibri" panose="020F0502020204030204" pitchFamily="34" charset="0"/>
                        </a:rPr>
                        <a:t>176</a:t>
                      </a:r>
                    </a:p>
                  </a:txBody>
                  <a:tcPr marL="7620" marR="7620" marT="7620" marB="0" anchor="ctr">
                    <a:lnL>
                      <a:noFill/>
                    </a:lnL>
                    <a:lnR>
                      <a:noFill/>
                    </a:lnR>
                    <a:lnT w="12700" cap="flat" cmpd="sng" algn="ctr">
                      <a:solidFill>
                        <a:srgbClr val="FFFFFF"/>
                      </a:solidFill>
                      <a:prstDash val="solid"/>
                      <a:round/>
                      <a:headEnd type="none" w="med" len="med"/>
                      <a:tailEnd type="none" w="med" len="med"/>
                    </a:lnT>
                    <a:lnB>
                      <a:noFill/>
                    </a:lnB>
                    <a:solidFill>
                      <a:srgbClr val="2F75B5"/>
                    </a:solidFill>
                  </a:tcPr>
                </a:tc>
                <a:extLst>
                  <a:ext uri="{0D108BD9-81ED-4DB2-BD59-A6C34878D82A}">
                    <a16:rowId xmlns:a16="http://schemas.microsoft.com/office/drawing/2014/main" val="2406356513"/>
                  </a:ext>
                </a:extLst>
              </a:tr>
              <a:tr h="222455">
                <a:tc>
                  <a:txBody>
                    <a:bodyPr/>
                    <a:lstStyle/>
                    <a:p>
                      <a:pPr algn="l" fontAlgn="b"/>
                      <a:r>
                        <a:rPr lang="en-IN" sz="1100" b="0" i="0" u="none" strike="noStrike" dirty="0">
                          <a:solidFill>
                            <a:srgbClr val="FFFFFF"/>
                          </a:solidFill>
                          <a:effectLst/>
                          <a:latin typeface="Calibri" panose="020F0502020204030204" pitchFamily="34" charset="0"/>
                        </a:rPr>
                        <a:t>General Management</a:t>
                      </a:r>
                    </a:p>
                  </a:txBody>
                  <a:tcPr marL="7620" marR="7620" marT="7620" marB="0" anchor="b">
                    <a:lnL>
                      <a:noFill/>
                    </a:lnL>
                    <a:lnR>
                      <a:noFill/>
                    </a:lnR>
                    <a:lnT>
                      <a:noFill/>
                    </a:lnT>
                    <a:lnB>
                      <a:noFill/>
                    </a:lnB>
                    <a:solidFill>
                      <a:srgbClr val="5B9BD5"/>
                    </a:solidFill>
                  </a:tcPr>
                </a:tc>
                <a:tc>
                  <a:txBody>
                    <a:bodyPr/>
                    <a:lstStyle/>
                    <a:p>
                      <a:pPr algn="r" fontAlgn="b"/>
                      <a:r>
                        <a:rPr lang="en-IN" sz="1100" b="0" i="0" u="none" strike="noStrike">
                          <a:solidFill>
                            <a:srgbClr val="FFFFFF"/>
                          </a:solidFill>
                          <a:effectLst/>
                          <a:latin typeface="Calibri" panose="020F0502020204030204" pitchFamily="34" charset="0"/>
                        </a:rPr>
                        <a:t>113</a:t>
                      </a:r>
                    </a:p>
                  </a:txBody>
                  <a:tcPr marL="7620" marR="7620" marT="7620" marB="0" anchor="b">
                    <a:lnL>
                      <a:noFill/>
                    </a:lnL>
                    <a:lnR>
                      <a:noFill/>
                    </a:lnR>
                    <a:lnT>
                      <a:noFill/>
                    </a:lnT>
                    <a:lnB>
                      <a:noFill/>
                    </a:lnB>
                    <a:solidFill>
                      <a:srgbClr val="5B9BD5"/>
                    </a:solidFill>
                  </a:tcPr>
                </a:tc>
                <a:extLst>
                  <a:ext uri="{0D108BD9-81ED-4DB2-BD59-A6C34878D82A}">
                    <a16:rowId xmlns:a16="http://schemas.microsoft.com/office/drawing/2014/main" val="2208458793"/>
                  </a:ext>
                </a:extLst>
              </a:tr>
              <a:tr h="222455">
                <a:tc>
                  <a:txBody>
                    <a:bodyPr/>
                    <a:lstStyle/>
                    <a:p>
                      <a:pPr algn="l" fontAlgn="b"/>
                      <a:r>
                        <a:rPr lang="en-IN" sz="1100" b="0" i="0" u="none" strike="noStrike" dirty="0">
                          <a:solidFill>
                            <a:srgbClr val="FFFFFF"/>
                          </a:solidFill>
                          <a:effectLst/>
                          <a:latin typeface="Calibri" panose="020F0502020204030204" pitchFamily="34" charset="0"/>
                        </a:rPr>
                        <a:t>Human Resource Department</a:t>
                      </a:r>
                    </a:p>
                  </a:txBody>
                  <a:tcPr marL="7620" marR="7620" marT="7620" marB="0" anchor="b">
                    <a:lnL>
                      <a:noFill/>
                    </a:lnL>
                    <a:lnR>
                      <a:noFill/>
                    </a:lnR>
                    <a:lnT>
                      <a:noFill/>
                    </a:lnT>
                    <a:lnB>
                      <a:noFill/>
                    </a:lnB>
                    <a:solidFill>
                      <a:srgbClr val="2F75B5"/>
                    </a:solidFill>
                  </a:tcPr>
                </a:tc>
                <a:tc>
                  <a:txBody>
                    <a:bodyPr/>
                    <a:lstStyle/>
                    <a:p>
                      <a:pPr algn="r" fontAlgn="b"/>
                      <a:r>
                        <a:rPr lang="en-IN" sz="1100" b="0" i="0" u="none" strike="noStrike">
                          <a:solidFill>
                            <a:srgbClr val="FFFFFF"/>
                          </a:solidFill>
                          <a:effectLst/>
                          <a:latin typeface="Calibri" panose="020F0502020204030204" pitchFamily="34" charset="0"/>
                        </a:rPr>
                        <a:t>70</a:t>
                      </a:r>
                    </a:p>
                  </a:txBody>
                  <a:tcPr marL="7620" marR="7620" marT="7620" marB="0" anchor="b">
                    <a:lnL>
                      <a:noFill/>
                    </a:lnL>
                    <a:lnR>
                      <a:noFill/>
                    </a:lnR>
                    <a:lnT>
                      <a:noFill/>
                    </a:lnT>
                    <a:lnB>
                      <a:noFill/>
                    </a:lnB>
                    <a:solidFill>
                      <a:srgbClr val="2F75B5"/>
                    </a:solidFill>
                  </a:tcPr>
                </a:tc>
                <a:extLst>
                  <a:ext uri="{0D108BD9-81ED-4DB2-BD59-A6C34878D82A}">
                    <a16:rowId xmlns:a16="http://schemas.microsoft.com/office/drawing/2014/main" val="3105076674"/>
                  </a:ext>
                </a:extLst>
              </a:tr>
              <a:tr h="222455">
                <a:tc>
                  <a:txBody>
                    <a:bodyPr/>
                    <a:lstStyle/>
                    <a:p>
                      <a:pPr algn="l" fontAlgn="b"/>
                      <a:r>
                        <a:rPr lang="en-IN" sz="1100" b="0" i="0" u="none" strike="noStrike">
                          <a:solidFill>
                            <a:srgbClr val="FFFFFF"/>
                          </a:solidFill>
                          <a:effectLst/>
                          <a:latin typeface="Calibri" panose="020F0502020204030204" pitchFamily="34" charset="0"/>
                        </a:rPr>
                        <a:t>Marketing Department</a:t>
                      </a:r>
                    </a:p>
                  </a:txBody>
                  <a:tcPr marL="7620" marR="7620" marT="7620" marB="0" anchor="b">
                    <a:lnL>
                      <a:noFill/>
                    </a:lnL>
                    <a:lnR>
                      <a:noFill/>
                    </a:lnR>
                    <a:lnT>
                      <a:noFill/>
                    </a:lnT>
                    <a:lnB>
                      <a:noFill/>
                    </a:lnB>
                    <a:solidFill>
                      <a:srgbClr val="5B9BD5"/>
                    </a:solidFill>
                  </a:tcPr>
                </a:tc>
                <a:tc>
                  <a:txBody>
                    <a:bodyPr/>
                    <a:lstStyle/>
                    <a:p>
                      <a:pPr algn="r" fontAlgn="b"/>
                      <a:r>
                        <a:rPr lang="en-IN" sz="1100" b="0" i="0" u="none" strike="noStrike">
                          <a:solidFill>
                            <a:srgbClr val="FFFFFF"/>
                          </a:solidFill>
                          <a:effectLst/>
                          <a:latin typeface="Calibri" panose="020F0502020204030204" pitchFamily="34" charset="0"/>
                        </a:rPr>
                        <a:t>202</a:t>
                      </a:r>
                    </a:p>
                  </a:txBody>
                  <a:tcPr marL="7620" marR="7620" marT="7620" marB="0" anchor="b">
                    <a:lnL>
                      <a:noFill/>
                    </a:lnL>
                    <a:lnR>
                      <a:noFill/>
                    </a:lnR>
                    <a:lnT>
                      <a:noFill/>
                    </a:lnT>
                    <a:lnB>
                      <a:noFill/>
                    </a:lnB>
                    <a:solidFill>
                      <a:srgbClr val="5B9BD5"/>
                    </a:solidFill>
                  </a:tcPr>
                </a:tc>
                <a:extLst>
                  <a:ext uri="{0D108BD9-81ED-4DB2-BD59-A6C34878D82A}">
                    <a16:rowId xmlns:a16="http://schemas.microsoft.com/office/drawing/2014/main" val="1122986460"/>
                  </a:ext>
                </a:extLst>
              </a:tr>
              <a:tr h="222455">
                <a:tc>
                  <a:txBody>
                    <a:bodyPr/>
                    <a:lstStyle/>
                    <a:p>
                      <a:pPr algn="l" fontAlgn="b"/>
                      <a:r>
                        <a:rPr lang="en-IN" sz="1100" b="0" i="0" u="none" strike="noStrike">
                          <a:solidFill>
                            <a:srgbClr val="FFFFFF"/>
                          </a:solidFill>
                          <a:effectLst/>
                          <a:latin typeface="Calibri" panose="020F0502020204030204" pitchFamily="34" charset="0"/>
                        </a:rPr>
                        <a:t>Operations Department</a:t>
                      </a:r>
                    </a:p>
                  </a:txBody>
                  <a:tcPr marL="7620" marR="7620" marT="7620" marB="0" anchor="b">
                    <a:lnL>
                      <a:noFill/>
                    </a:lnL>
                    <a:lnR>
                      <a:noFill/>
                    </a:lnR>
                    <a:lnT>
                      <a:noFill/>
                    </a:lnT>
                    <a:lnB>
                      <a:noFill/>
                    </a:lnB>
                    <a:solidFill>
                      <a:srgbClr val="2F75B5"/>
                    </a:solidFill>
                  </a:tcPr>
                </a:tc>
                <a:tc>
                  <a:txBody>
                    <a:bodyPr/>
                    <a:lstStyle/>
                    <a:p>
                      <a:pPr algn="r" fontAlgn="b"/>
                      <a:r>
                        <a:rPr lang="en-IN" sz="1100" b="0" i="0" u="none" strike="noStrike">
                          <a:solidFill>
                            <a:srgbClr val="FFFFFF"/>
                          </a:solidFill>
                          <a:effectLst/>
                          <a:latin typeface="Calibri" panose="020F0502020204030204" pitchFamily="34" charset="0"/>
                        </a:rPr>
                        <a:t>1843</a:t>
                      </a:r>
                    </a:p>
                  </a:txBody>
                  <a:tcPr marL="7620" marR="7620" marT="7620" marB="0" anchor="b">
                    <a:lnL>
                      <a:noFill/>
                    </a:lnL>
                    <a:lnR>
                      <a:noFill/>
                    </a:lnR>
                    <a:lnT>
                      <a:noFill/>
                    </a:lnT>
                    <a:lnB>
                      <a:noFill/>
                    </a:lnB>
                    <a:solidFill>
                      <a:srgbClr val="2F75B5"/>
                    </a:solidFill>
                  </a:tcPr>
                </a:tc>
                <a:extLst>
                  <a:ext uri="{0D108BD9-81ED-4DB2-BD59-A6C34878D82A}">
                    <a16:rowId xmlns:a16="http://schemas.microsoft.com/office/drawing/2014/main" val="4117077672"/>
                  </a:ext>
                </a:extLst>
              </a:tr>
              <a:tr h="222455">
                <a:tc>
                  <a:txBody>
                    <a:bodyPr/>
                    <a:lstStyle/>
                    <a:p>
                      <a:pPr algn="l" fontAlgn="b"/>
                      <a:r>
                        <a:rPr lang="en-IN" sz="1100" b="0" i="0" u="none" strike="noStrike" dirty="0">
                          <a:solidFill>
                            <a:srgbClr val="FFFFFF"/>
                          </a:solidFill>
                          <a:effectLst/>
                          <a:latin typeface="Calibri" panose="020F0502020204030204" pitchFamily="34" charset="0"/>
                        </a:rPr>
                        <a:t>Production Department</a:t>
                      </a:r>
                    </a:p>
                  </a:txBody>
                  <a:tcPr marL="7620" marR="7620" marT="7620" marB="0" anchor="b">
                    <a:lnL>
                      <a:noFill/>
                    </a:lnL>
                    <a:lnR>
                      <a:noFill/>
                    </a:lnR>
                    <a:lnT>
                      <a:noFill/>
                    </a:lnT>
                    <a:lnB>
                      <a:noFill/>
                    </a:lnB>
                    <a:solidFill>
                      <a:srgbClr val="5B9BD5"/>
                    </a:solidFill>
                  </a:tcPr>
                </a:tc>
                <a:tc>
                  <a:txBody>
                    <a:bodyPr/>
                    <a:lstStyle/>
                    <a:p>
                      <a:pPr algn="r" fontAlgn="b"/>
                      <a:r>
                        <a:rPr lang="en-IN" sz="1100" b="0" i="0" u="none" strike="noStrike">
                          <a:solidFill>
                            <a:srgbClr val="FFFFFF"/>
                          </a:solidFill>
                          <a:effectLst/>
                          <a:latin typeface="Calibri" panose="020F0502020204030204" pitchFamily="34" charset="0"/>
                        </a:rPr>
                        <a:t>246</a:t>
                      </a:r>
                    </a:p>
                  </a:txBody>
                  <a:tcPr marL="7620" marR="7620" marT="7620" marB="0" anchor="b">
                    <a:lnL>
                      <a:noFill/>
                    </a:lnL>
                    <a:lnR>
                      <a:noFill/>
                    </a:lnR>
                    <a:lnT>
                      <a:noFill/>
                    </a:lnT>
                    <a:lnB>
                      <a:noFill/>
                    </a:lnB>
                    <a:solidFill>
                      <a:srgbClr val="5B9BD5"/>
                    </a:solidFill>
                  </a:tcPr>
                </a:tc>
                <a:extLst>
                  <a:ext uri="{0D108BD9-81ED-4DB2-BD59-A6C34878D82A}">
                    <a16:rowId xmlns:a16="http://schemas.microsoft.com/office/drawing/2014/main" val="622349494"/>
                  </a:ext>
                </a:extLst>
              </a:tr>
              <a:tr h="222455">
                <a:tc>
                  <a:txBody>
                    <a:bodyPr/>
                    <a:lstStyle/>
                    <a:p>
                      <a:pPr algn="l" fontAlgn="b"/>
                      <a:r>
                        <a:rPr lang="en-IN" sz="1100" b="0" i="0" u="none" strike="noStrike">
                          <a:solidFill>
                            <a:srgbClr val="FFFFFF"/>
                          </a:solidFill>
                          <a:effectLst/>
                          <a:latin typeface="Calibri" panose="020F0502020204030204" pitchFamily="34" charset="0"/>
                        </a:rPr>
                        <a:t>Purchase Department</a:t>
                      </a:r>
                    </a:p>
                  </a:txBody>
                  <a:tcPr marL="7620" marR="7620" marT="7620" marB="0" anchor="b">
                    <a:lnL>
                      <a:noFill/>
                    </a:lnL>
                    <a:lnR>
                      <a:noFill/>
                    </a:lnR>
                    <a:lnT>
                      <a:noFill/>
                    </a:lnT>
                    <a:lnB>
                      <a:noFill/>
                    </a:lnB>
                    <a:solidFill>
                      <a:srgbClr val="2F75B5"/>
                    </a:solidFill>
                  </a:tcPr>
                </a:tc>
                <a:tc>
                  <a:txBody>
                    <a:bodyPr/>
                    <a:lstStyle/>
                    <a:p>
                      <a:pPr algn="r" fontAlgn="b"/>
                      <a:r>
                        <a:rPr lang="en-IN" sz="1100" b="0" i="0" u="none" strike="noStrike">
                          <a:solidFill>
                            <a:srgbClr val="FFFFFF"/>
                          </a:solidFill>
                          <a:effectLst/>
                          <a:latin typeface="Calibri" panose="020F0502020204030204" pitchFamily="34" charset="0"/>
                        </a:rPr>
                        <a:t>230</a:t>
                      </a:r>
                    </a:p>
                  </a:txBody>
                  <a:tcPr marL="7620" marR="7620" marT="7620" marB="0" anchor="b">
                    <a:lnL>
                      <a:noFill/>
                    </a:lnL>
                    <a:lnR>
                      <a:noFill/>
                    </a:lnR>
                    <a:lnT>
                      <a:noFill/>
                    </a:lnT>
                    <a:lnB>
                      <a:noFill/>
                    </a:lnB>
                    <a:solidFill>
                      <a:srgbClr val="2F75B5"/>
                    </a:solidFill>
                  </a:tcPr>
                </a:tc>
                <a:extLst>
                  <a:ext uri="{0D108BD9-81ED-4DB2-BD59-A6C34878D82A}">
                    <a16:rowId xmlns:a16="http://schemas.microsoft.com/office/drawing/2014/main" val="3495975480"/>
                  </a:ext>
                </a:extLst>
              </a:tr>
              <a:tr h="222455">
                <a:tc>
                  <a:txBody>
                    <a:bodyPr/>
                    <a:lstStyle/>
                    <a:p>
                      <a:pPr algn="l" fontAlgn="b"/>
                      <a:r>
                        <a:rPr lang="en-IN" sz="1100" b="0" i="0" u="none" strike="noStrike">
                          <a:solidFill>
                            <a:srgbClr val="FFFFFF"/>
                          </a:solidFill>
                          <a:effectLst/>
                          <a:latin typeface="Calibri" panose="020F0502020204030204" pitchFamily="34" charset="0"/>
                        </a:rPr>
                        <a:t>Sales Department</a:t>
                      </a:r>
                    </a:p>
                  </a:txBody>
                  <a:tcPr marL="7620" marR="7620" marT="7620" marB="0" anchor="b">
                    <a:lnL>
                      <a:noFill/>
                    </a:lnL>
                    <a:lnR>
                      <a:noFill/>
                    </a:lnR>
                    <a:lnT>
                      <a:noFill/>
                    </a:lnT>
                    <a:lnB>
                      <a:noFill/>
                    </a:lnB>
                    <a:solidFill>
                      <a:srgbClr val="5B9BD5"/>
                    </a:solidFill>
                  </a:tcPr>
                </a:tc>
                <a:tc>
                  <a:txBody>
                    <a:bodyPr/>
                    <a:lstStyle/>
                    <a:p>
                      <a:pPr algn="r" fontAlgn="b"/>
                      <a:r>
                        <a:rPr lang="en-IN" sz="1100" b="0" i="0" u="none" strike="noStrike">
                          <a:solidFill>
                            <a:srgbClr val="FFFFFF"/>
                          </a:solidFill>
                          <a:effectLst/>
                          <a:latin typeface="Calibri" panose="020F0502020204030204" pitchFamily="34" charset="0"/>
                        </a:rPr>
                        <a:t>485</a:t>
                      </a:r>
                    </a:p>
                  </a:txBody>
                  <a:tcPr marL="7620" marR="7620" marT="7620" marB="0" anchor="b">
                    <a:lnL>
                      <a:noFill/>
                    </a:lnL>
                    <a:lnR>
                      <a:noFill/>
                    </a:lnR>
                    <a:lnT>
                      <a:noFill/>
                    </a:lnT>
                    <a:lnB>
                      <a:noFill/>
                    </a:lnB>
                    <a:solidFill>
                      <a:srgbClr val="5B9BD5"/>
                    </a:solidFill>
                  </a:tcPr>
                </a:tc>
                <a:extLst>
                  <a:ext uri="{0D108BD9-81ED-4DB2-BD59-A6C34878D82A}">
                    <a16:rowId xmlns:a16="http://schemas.microsoft.com/office/drawing/2014/main" val="2202032428"/>
                  </a:ext>
                </a:extLst>
              </a:tr>
              <a:tr h="222455">
                <a:tc>
                  <a:txBody>
                    <a:bodyPr/>
                    <a:lstStyle/>
                    <a:p>
                      <a:pPr algn="l" fontAlgn="b"/>
                      <a:r>
                        <a:rPr lang="en-IN" sz="1100" b="0" i="0" u="none" strike="noStrike" dirty="0">
                          <a:solidFill>
                            <a:srgbClr val="FFFFFF"/>
                          </a:solidFill>
                          <a:effectLst/>
                          <a:latin typeface="Calibri" panose="020F0502020204030204" pitchFamily="34" charset="0"/>
                        </a:rPr>
                        <a:t>Service Department</a:t>
                      </a:r>
                    </a:p>
                  </a:txBody>
                  <a:tcPr marL="7620" marR="7620" marT="7620" marB="0" anchor="b">
                    <a:lnL>
                      <a:noFill/>
                    </a:lnL>
                    <a:lnR>
                      <a:noFill/>
                    </a:lnR>
                    <a:lnT>
                      <a:noFill/>
                    </a:lnT>
                    <a:lnB>
                      <a:noFill/>
                    </a:lnB>
                    <a:solidFill>
                      <a:srgbClr val="2F75B5"/>
                    </a:solidFill>
                  </a:tcPr>
                </a:tc>
                <a:tc>
                  <a:txBody>
                    <a:bodyPr/>
                    <a:lstStyle/>
                    <a:p>
                      <a:pPr algn="r" fontAlgn="b"/>
                      <a:r>
                        <a:rPr lang="en-IN" sz="1100" b="0" i="0" u="none" strike="noStrike" dirty="0">
                          <a:solidFill>
                            <a:srgbClr val="FFFFFF"/>
                          </a:solidFill>
                          <a:effectLst/>
                          <a:latin typeface="Calibri" panose="020F0502020204030204" pitchFamily="34" charset="0"/>
                        </a:rPr>
                        <a:t>1332</a:t>
                      </a:r>
                    </a:p>
                  </a:txBody>
                  <a:tcPr marL="7620" marR="7620" marT="7620" marB="0" anchor="b">
                    <a:lnL>
                      <a:noFill/>
                    </a:lnL>
                    <a:lnR>
                      <a:noFill/>
                    </a:lnR>
                    <a:lnT>
                      <a:noFill/>
                    </a:lnT>
                    <a:lnB>
                      <a:noFill/>
                    </a:lnB>
                    <a:solidFill>
                      <a:srgbClr val="2F75B5"/>
                    </a:solidFill>
                  </a:tcPr>
                </a:tc>
                <a:extLst>
                  <a:ext uri="{0D108BD9-81ED-4DB2-BD59-A6C34878D82A}">
                    <a16:rowId xmlns:a16="http://schemas.microsoft.com/office/drawing/2014/main" val="897961649"/>
                  </a:ext>
                </a:extLst>
              </a:tr>
            </a:tbl>
          </a:graphicData>
        </a:graphic>
      </p:graphicFrame>
      <p:pic>
        <p:nvPicPr>
          <p:cNvPr id="13" name="Picture 12">
            <a:extLst>
              <a:ext uri="{FF2B5EF4-FFF2-40B4-BE49-F238E27FC236}">
                <a16:creationId xmlns:a16="http://schemas.microsoft.com/office/drawing/2014/main" id="{3FA812D8-1719-406E-7AEA-E64BB77E8C82}"/>
              </a:ext>
            </a:extLst>
          </p:cNvPr>
          <p:cNvPicPr>
            <a:picLocks noChangeAspect="1"/>
          </p:cNvPicPr>
          <p:nvPr/>
        </p:nvPicPr>
        <p:blipFill>
          <a:blip r:embed="rId2"/>
          <a:stretch>
            <a:fillRect/>
          </a:stretch>
        </p:blipFill>
        <p:spPr>
          <a:xfrm>
            <a:off x="5258699" y="3559892"/>
            <a:ext cx="5925826" cy="2745658"/>
          </a:xfrm>
          <a:prstGeom prst="rect">
            <a:avLst/>
          </a:prstGeom>
        </p:spPr>
      </p:pic>
    </p:spTree>
    <p:extLst>
      <p:ext uri="{BB962C8B-B14F-4D97-AF65-F5344CB8AC3E}">
        <p14:creationId xmlns:p14="http://schemas.microsoft.com/office/powerpoint/2010/main" val="4167435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gradFill>
          <a:gsLst>
            <a:gs pos="100000">
              <a:schemeClr val="bg2">
                <a:tint val="97000"/>
                <a:hueMod val="92000"/>
                <a:satMod val="169000"/>
                <a:lumMod val="68000"/>
                <a:lumOff val="32000"/>
              </a:schemeClr>
            </a:gs>
            <a:gs pos="100000">
              <a:schemeClr val="bg2">
                <a:shade val="96000"/>
                <a:satMod val="120000"/>
                <a:lumMod val="0"/>
              </a:schemeClr>
            </a:gs>
          </a:gsLst>
          <a:lin ang="6120000" scaled="1"/>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B42154-9BE9-9406-528E-433CE3A4DFF1}"/>
              </a:ext>
            </a:extLst>
          </p:cNvPr>
          <p:cNvSpPr>
            <a:spLocks noGrp="1"/>
          </p:cNvSpPr>
          <p:nvPr>
            <p:ph idx="1"/>
          </p:nvPr>
        </p:nvSpPr>
        <p:spPr>
          <a:xfrm>
            <a:off x="1101214" y="1749212"/>
            <a:ext cx="10722077" cy="4919079"/>
          </a:xfrm>
        </p:spPr>
        <p:txBody>
          <a:bodyPr/>
          <a:lstStyle/>
          <a:p>
            <a:r>
              <a:rPr lang="en-IN" sz="24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Task: </a:t>
            </a:r>
            <a:r>
              <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Use a chart or graph to represent the different position tiers within the company. This will help you understand the distribution of positions across different tiers.</a:t>
            </a:r>
          </a:p>
          <a:p>
            <a:r>
              <a:rPr lang="en-IN" sz="2400" b="1" dirty="0">
                <a:solidFill>
                  <a:schemeClr val="bg1"/>
                </a:solidFill>
              </a:rPr>
              <a:t>Result:</a:t>
            </a:r>
            <a:r>
              <a:rPr lang="en-IN" sz="2400" dirty="0">
                <a:solidFill>
                  <a:schemeClr val="bg1"/>
                </a:solidFill>
              </a:rPr>
              <a:t> </a:t>
            </a:r>
            <a:r>
              <a:rPr lang="en-IN" sz="1800" dirty="0">
                <a:solidFill>
                  <a:schemeClr val="bg1"/>
                </a:solidFill>
                <a:latin typeface="Calibri" panose="020F0502020204030204" pitchFamily="34" charset="0"/>
                <a:ea typeface="Calibri" panose="020F0502020204030204" pitchFamily="34" charset="0"/>
                <a:cs typeface="Calibri" panose="020F0502020204030204" pitchFamily="34" charset="0"/>
              </a:rPr>
              <a:t>From the below graph we observe that most of the hiring is done for C9 and C5 post followed by i7 and i5.</a:t>
            </a:r>
          </a:p>
        </p:txBody>
      </p:sp>
      <p:sp>
        <p:nvSpPr>
          <p:cNvPr id="5" name="TextBox 4">
            <a:extLst>
              <a:ext uri="{FF2B5EF4-FFF2-40B4-BE49-F238E27FC236}">
                <a16:creationId xmlns:a16="http://schemas.microsoft.com/office/drawing/2014/main" id="{02137AED-4594-F2CE-36F4-72E8D6C54606}"/>
              </a:ext>
            </a:extLst>
          </p:cNvPr>
          <p:cNvSpPr txBox="1"/>
          <p:nvPr/>
        </p:nvSpPr>
        <p:spPr>
          <a:xfrm>
            <a:off x="993058" y="759230"/>
            <a:ext cx="9792929" cy="769441"/>
          </a:xfrm>
          <a:prstGeom prst="rect">
            <a:avLst/>
          </a:prstGeom>
          <a:noFill/>
        </p:spPr>
        <p:txBody>
          <a:bodyPr wrap="square">
            <a:spAutoFit/>
          </a:bodyPr>
          <a:lstStyle/>
          <a:p>
            <a:pPr marL="342900" indent="-342900">
              <a:buFont typeface="Wingdings" panose="05000000000000000000" pitchFamily="2" charset="2"/>
              <a:buChar char="v"/>
            </a:pPr>
            <a:r>
              <a:rPr lang="en-IN" sz="24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Position Tier Analysis: </a:t>
            </a:r>
          </a:p>
          <a:p>
            <a:pPr lvl="1"/>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Different positions within a company often have different tiers or levels</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a:t>
            </a:r>
            <a:endParaRPr lang="en-IN"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7" name="Table 6">
            <a:extLst>
              <a:ext uri="{FF2B5EF4-FFF2-40B4-BE49-F238E27FC236}">
                <a16:creationId xmlns:a16="http://schemas.microsoft.com/office/drawing/2014/main" id="{34F5C858-4C3C-2498-7C4D-007E4DC4E203}"/>
              </a:ext>
            </a:extLst>
          </p:cNvPr>
          <p:cNvGraphicFramePr>
            <a:graphicFrameLocks noGrp="1"/>
          </p:cNvGraphicFramePr>
          <p:nvPr>
            <p:extLst>
              <p:ext uri="{D42A27DB-BD31-4B8C-83A1-F6EECF244321}">
                <p14:modId xmlns:p14="http://schemas.microsoft.com/office/powerpoint/2010/main" val="2996269863"/>
              </p:ext>
            </p:extLst>
          </p:nvPr>
        </p:nvGraphicFramePr>
        <p:xfrm>
          <a:off x="1514167" y="3312787"/>
          <a:ext cx="4080387" cy="2903220"/>
        </p:xfrm>
        <a:graphic>
          <a:graphicData uri="http://schemas.openxmlformats.org/drawingml/2006/table">
            <a:tbl>
              <a:tblPr/>
              <a:tblGrid>
                <a:gridCol w="1797815">
                  <a:extLst>
                    <a:ext uri="{9D8B030D-6E8A-4147-A177-3AD203B41FA5}">
                      <a16:colId xmlns:a16="http://schemas.microsoft.com/office/drawing/2014/main" val="3686442442"/>
                    </a:ext>
                  </a:extLst>
                </a:gridCol>
                <a:gridCol w="2282572">
                  <a:extLst>
                    <a:ext uri="{9D8B030D-6E8A-4147-A177-3AD203B41FA5}">
                      <a16:colId xmlns:a16="http://schemas.microsoft.com/office/drawing/2014/main" val="589566878"/>
                    </a:ext>
                  </a:extLst>
                </a:gridCol>
              </a:tblGrid>
              <a:tr h="0">
                <a:tc>
                  <a:txBody>
                    <a:bodyPr/>
                    <a:lstStyle/>
                    <a:p>
                      <a:pPr algn="ctr" fontAlgn="ctr"/>
                      <a:r>
                        <a:rPr lang="en-IN" sz="1100" b="1" i="0" u="none" strike="noStrike" dirty="0">
                          <a:solidFill>
                            <a:srgbClr val="FFFFFF"/>
                          </a:solidFill>
                          <a:effectLst/>
                          <a:latin typeface="Calibri" panose="020F0502020204030204" pitchFamily="34" charset="0"/>
                        </a:rPr>
                        <a:t>Proportion of different post tiers</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r>
                        <a:rPr lang="en-IN" sz="1100" b="1" i="0" u="none" strike="noStrike" dirty="0">
                          <a:solidFill>
                            <a:srgbClr val="FFFFFF"/>
                          </a:solidFill>
                          <a:effectLst/>
                          <a:latin typeface="Calibri" panose="020F0502020204030204" pitchFamily="34" charset="0"/>
                        </a:rPr>
                        <a:t>Number of post tiers</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2197506029"/>
                  </a:ext>
                </a:extLst>
              </a:tr>
              <a:tr h="182880">
                <a:tc>
                  <a:txBody>
                    <a:bodyPr/>
                    <a:lstStyle/>
                    <a:p>
                      <a:pPr algn="ctr" fontAlgn="b"/>
                      <a:r>
                        <a:rPr lang="en-IN" sz="1100" b="0" i="0" u="none" strike="noStrike" dirty="0">
                          <a:solidFill>
                            <a:srgbClr val="000000"/>
                          </a:solidFill>
                          <a:effectLst/>
                          <a:latin typeface="Calibri" panose="020F0502020204030204" pitchFamily="34" charset="0"/>
                        </a:rPr>
                        <a:t>b9</a:t>
                      </a:r>
                    </a:p>
                  </a:txBody>
                  <a:tcPr marL="7620" marR="7620" marT="762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100" b="0" i="0" u="none" strike="noStrike">
                          <a:solidFill>
                            <a:srgbClr val="000000"/>
                          </a:solidFill>
                          <a:effectLst/>
                          <a:latin typeface="Calibri" panose="020F0502020204030204" pitchFamily="34" charset="0"/>
                        </a:rPr>
                        <a:t>463</a:t>
                      </a:r>
                    </a:p>
                  </a:txBody>
                  <a:tcPr marL="7620" marR="7620" marT="7620"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057751431"/>
                  </a:ext>
                </a:extLst>
              </a:tr>
              <a:tr h="182880">
                <a:tc>
                  <a:txBody>
                    <a:bodyPr/>
                    <a:lstStyle/>
                    <a:p>
                      <a:pPr algn="ctr" fontAlgn="b"/>
                      <a:r>
                        <a:rPr lang="en-IN" sz="1100" b="0" i="0" u="none" strike="noStrike" dirty="0">
                          <a:solidFill>
                            <a:srgbClr val="000000"/>
                          </a:solidFill>
                          <a:effectLst/>
                          <a:latin typeface="Calibri" panose="020F0502020204030204" pitchFamily="34" charset="0"/>
                        </a:rPr>
                        <a:t>c-10</a:t>
                      </a:r>
                    </a:p>
                  </a:txBody>
                  <a:tcPr marL="7620" marR="7620" marT="762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100" b="0" i="0" u="none" strike="noStrike" dirty="0">
                          <a:solidFill>
                            <a:srgbClr val="000000"/>
                          </a:solidFill>
                          <a:effectLst/>
                          <a:latin typeface="Calibri" panose="020F0502020204030204" pitchFamily="34" charset="0"/>
                        </a:rPr>
                        <a:t>232</a:t>
                      </a:r>
                    </a:p>
                  </a:txBody>
                  <a:tcPr marL="7620" marR="7620" marT="7620"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813911743"/>
                  </a:ext>
                </a:extLst>
              </a:tr>
              <a:tr h="182880">
                <a:tc>
                  <a:txBody>
                    <a:bodyPr/>
                    <a:lstStyle/>
                    <a:p>
                      <a:pPr algn="ctr" fontAlgn="b"/>
                      <a:r>
                        <a:rPr lang="en-IN" sz="1100" b="0" i="0" u="none" strike="noStrike">
                          <a:solidFill>
                            <a:srgbClr val="000000"/>
                          </a:solidFill>
                          <a:effectLst/>
                          <a:latin typeface="Calibri" panose="020F0502020204030204" pitchFamily="34" charset="0"/>
                        </a:rPr>
                        <a:t>c5</a:t>
                      </a:r>
                    </a:p>
                  </a:txBody>
                  <a:tcPr marL="7620" marR="7620" marT="762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100" b="0" i="0" u="none" strike="noStrike" dirty="0">
                          <a:solidFill>
                            <a:srgbClr val="000000"/>
                          </a:solidFill>
                          <a:effectLst/>
                          <a:latin typeface="Calibri" panose="020F0502020204030204" pitchFamily="34" charset="0"/>
                        </a:rPr>
                        <a:t>1747</a:t>
                      </a:r>
                    </a:p>
                  </a:txBody>
                  <a:tcPr marL="7620" marR="7620" marT="7620"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355632577"/>
                  </a:ext>
                </a:extLst>
              </a:tr>
              <a:tr h="182880">
                <a:tc>
                  <a:txBody>
                    <a:bodyPr/>
                    <a:lstStyle/>
                    <a:p>
                      <a:pPr algn="ctr" fontAlgn="b"/>
                      <a:r>
                        <a:rPr lang="en-IN" sz="1100" b="0" i="0" u="none" strike="noStrike">
                          <a:solidFill>
                            <a:srgbClr val="000000"/>
                          </a:solidFill>
                          <a:effectLst/>
                          <a:latin typeface="Calibri" panose="020F0502020204030204" pitchFamily="34" charset="0"/>
                        </a:rPr>
                        <a:t>c8</a:t>
                      </a:r>
                    </a:p>
                  </a:txBody>
                  <a:tcPr marL="7620" marR="7620" marT="762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100" b="0" i="0" u="none" strike="noStrike">
                          <a:solidFill>
                            <a:srgbClr val="000000"/>
                          </a:solidFill>
                          <a:effectLst/>
                          <a:latin typeface="Calibri" panose="020F0502020204030204" pitchFamily="34" charset="0"/>
                        </a:rPr>
                        <a:t>320</a:t>
                      </a:r>
                    </a:p>
                  </a:txBody>
                  <a:tcPr marL="7620" marR="7620" marT="7620"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701546303"/>
                  </a:ext>
                </a:extLst>
              </a:tr>
              <a:tr h="182880">
                <a:tc>
                  <a:txBody>
                    <a:bodyPr/>
                    <a:lstStyle/>
                    <a:p>
                      <a:pPr algn="ctr" fontAlgn="b"/>
                      <a:r>
                        <a:rPr lang="en-IN" sz="1100" b="0" i="0" u="none" strike="noStrike">
                          <a:solidFill>
                            <a:srgbClr val="000000"/>
                          </a:solidFill>
                          <a:effectLst/>
                          <a:latin typeface="Calibri" panose="020F0502020204030204" pitchFamily="34" charset="0"/>
                        </a:rPr>
                        <a:t>c9</a:t>
                      </a:r>
                    </a:p>
                  </a:txBody>
                  <a:tcPr marL="7620" marR="7620" marT="762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100" b="0" i="0" u="none" strike="noStrike" dirty="0">
                          <a:solidFill>
                            <a:srgbClr val="000000"/>
                          </a:solidFill>
                          <a:effectLst/>
                          <a:latin typeface="Calibri" panose="020F0502020204030204" pitchFamily="34" charset="0"/>
                        </a:rPr>
                        <a:t>1792</a:t>
                      </a:r>
                    </a:p>
                  </a:txBody>
                  <a:tcPr marL="7620" marR="7620" marT="7620"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614864417"/>
                  </a:ext>
                </a:extLst>
              </a:tr>
              <a:tr h="182880">
                <a:tc>
                  <a:txBody>
                    <a:bodyPr/>
                    <a:lstStyle/>
                    <a:p>
                      <a:pPr algn="ctr" fontAlgn="b"/>
                      <a:r>
                        <a:rPr lang="en-IN" sz="1100" b="0" i="0" u="none" strike="noStrike">
                          <a:solidFill>
                            <a:srgbClr val="000000"/>
                          </a:solidFill>
                          <a:effectLst/>
                          <a:latin typeface="Calibri" panose="020F0502020204030204" pitchFamily="34" charset="0"/>
                        </a:rPr>
                        <a:t>i1</a:t>
                      </a:r>
                    </a:p>
                  </a:txBody>
                  <a:tcPr marL="7620" marR="7620" marT="762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100" b="0" i="0" u="none" strike="noStrike" dirty="0">
                          <a:solidFill>
                            <a:srgbClr val="000000"/>
                          </a:solidFill>
                          <a:effectLst/>
                          <a:latin typeface="Calibri" panose="020F0502020204030204" pitchFamily="34" charset="0"/>
                        </a:rPr>
                        <a:t>222</a:t>
                      </a:r>
                    </a:p>
                  </a:txBody>
                  <a:tcPr marL="7620" marR="7620" marT="7620"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653801061"/>
                  </a:ext>
                </a:extLst>
              </a:tr>
              <a:tr h="182880">
                <a:tc>
                  <a:txBody>
                    <a:bodyPr/>
                    <a:lstStyle/>
                    <a:p>
                      <a:pPr algn="ctr" fontAlgn="b"/>
                      <a:r>
                        <a:rPr lang="en-IN" sz="1100" b="0" i="0" u="none" strike="noStrike">
                          <a:solidFill>
                            <a:srgbClr val="000000"/>
                          </a:solidFill>
                          <a:effectLst/>
                          <a:latin typeface="Calibri" panose="020F0502020204030204" pitchFamily="34" charset="0"/>
                        </a:rPr>
                        <a:t>i4</a:t>
                      </a:r>
                    </a:p>
                  </a:txBody>
                  <a:tcPr marL="7620" marR="7620" marT="762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100" b="0" i="0" u="none" strike="noStrike" dirty="0">
                          <a:solidFill>
                            <a:srgbClr val="000000"/>
                          </a:solidFill>
                          <a:effectLst/>
                          <a:latin typeface="Calibri" panose="020F0502020204030204" pitchFamily="34" charset="0"/>
                        </a:rPr>
                        <a:t>88</a:t>
                      </a:r>
                    </a:p>
                  </a:txBody>
                  <a:tcPr marL="7620" marR="7620" marT="7620"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837624966"/>
                  </a:ext>
                </a:extLst>
              </a:tr>
              <a:tr h="182880">
                <a:tc>
                  <a:txBody>
                    <a:bodyPr/>
                    <a:lstStyle/>
                    <a:p>
                      <a:pPr algn="ctr" fontAlgn="b"/>
                      <a:r>
                        <a:rPr lang="en-IN" sz="1100" b="0" i="0" u="none" strike="noStrike">
                          <a:solidFill>
                            <a:srgbClr val="000000"/>
                          </a:solidFill>
                          <a:effectLst/>
                          <a:latin typeface="Calibri" panose="020F0502020204030204" pitchFamily="34" charset="0"/>
                        </a:rPr>
                        <a:t>i5</a:t>
                      </a:r>
                    </a:p>
                  </a:txBody>
                  <a:tcPr marL="7620" marR="7620" marT="762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100" b="0" i="0" u="none" strike="noStrike">
                          <a:solidFill>
                            <a:srgbClr val="000000"/>
                          </a:solidFill>
                          <a:effectLst/>
                          <a:latin typeface="Calibri" panose="020F0502020204030204" pitchFamily="34" charset="0"/>
                        </a:rPr>
                        <a:t>787</a:t>
                      </a:r>
                    </a:p>
                  </a:txBody>
                  <a:tcPr marL="7620" marR="7620" marT="7620"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732995343"/>
                  </a:ext>
                </a:extLst>
              </a:tr>
              <a:tr h="182880">
                <a:tc>
                  <a:txBody>
                    <a:bodyPr/>
                    <a:lstStyle/>
                    <a:p>
                      <a:pPr algn="ctr" fontAlgn="b"/>
                      <a:r>
                        <a:rPr lang="en-IN" sz="1100" b="0" i="0" u="none" strike="noStrike">
                          <a:solidFill>
                            <a:srgbClr val="000000"/>
                          </a:solidFill>
                          <a:effectLst/>
                          <a:latin typeface="Calibri" panose="020F0502020204030204" pitchFamily="34" charset="0"/>
                        </a:rPr>
                        <a:t>i6</a:t>
                      </a:r>
                    </a:p>
                  </a:txBody>
                  <a:tcPr marL="7620" marR="7620" marT="762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100" b="0" i="0" u="none" strike="noStrike" dirty="0">
                          <a:solidFill>
                            <a:srgbClr val="000000"/>
                          </a:solidFill>
                          <a:effectLst/>
                          <a:latin typeface="Calibri" panose="020F0502020204030204" pitchFamily="34" charset="0"/>
                        </a:rPr>
                        <a:t>527</a:t>
                      </a:r>
                    </a:p>
                  </a:txBody>
                  <a:tcPr marL="7620" marR="7620" marT="7620"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918742851"/>
                  </a:ext>
                </a:extLst>
              </a:tr>
              <a:tr h="182880">
                <a:tc>
                  <a:txBody>
                    <a:bodyPr/>
                    <a:lstStyle/>
                    <a:p>
                      <a:pPr algn="ctr" fontAlgn="b"/>
                      <a:r>
                        <a:rPr lang="en-IN" sz="1100" b="0" i="0" u="none" strike="noStrike">
                          <a:solidFill>
                            <a:srgbClr val="000000"/>
                          </a:solidFill>
                          <a:effectLst/>
                          <a:latin typeface="Calibri" panose="020F0502020204030204" pitchFamily="34" charset="0"/>
                        </a:rPr>
                        <a:t>i7</a:t>
                      </a:r>
                    </a:p>
                  </a:txBody>
                  <a:tcPr marL="7620" marR="7620" marT="762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100" b="0" i="0" u="none" strike="noStrike">
                          <a:solidFill>
                            <a:srgbClr val="000000"/>
                          </a:solidFill>
                          <a:effectLst/>
                          <a:latin typeface="Calibri" panose="020F0502020204030204" pitchFamily="34" charset="0"/>
                        </a:rPr>
                        <a:t>982</a:t>
                      </a:r>
                    </a:p>
                  </a:txBody>
                  <a:tcPr marL="7620" marR="7620" marT="7620"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493992434"/>
                  </a:ext>
                </a:extLst>
              </a:tr>
              <a:tr h="182880">
                <a:tc>
                  <a:txBody>
                    <a:bodyPr/>
                    <a:lstStyle/>
                    <a:p>
                      <a:pPr algn="ctr" fontAlgn="b"/>
                      <a:r>
                        <a:rPr lang="en-IN" sz="1100" b="0" i="0" u="none" strike="noStrike">
                          <a:solidFill>
                            <a:srgbClr val="000000"/>
                          </a:solidFill>
                          <a:effectLst/>
                          <a:latin typeface="Calibri" panose="020F0502020204030204" pitchFamily="34" charset="0"/>
                        </a:rPr>
                        <a:t>m6</a:t>
                      </a:r>
                    </a:p>
                  </a:txBody>
                  <a:tcPr marL="7620" marR="7620" marT="762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100" b="0" i="0" u="none" strike="noStrike" dirty="0">
                          <a:solidFill>
                            <a:srgbClr val="000000"/>
                          </a:solidFill>
                          <a:effectLst/>
                          <a:latin typeface="Calibri" panose="020F0502020204030204" pitchFamily="34" charset="0"/>
                        </a:rPr>
                        <a:t>3</a:t>
                      </a:r>
                    </a:p>
                  </a:txBody>
                  <a:tcPr marL="7620" marR="7620" marT="7620"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436113687"/>
                  </a:ext>
                </a:extLst>
              </a:tr>
              <a:tr h="182880">
                <a:tc>
                  <a:txBody>
                    <a:bodyPr/>
                    <a:lstStyle/>
                    <a:p>
                      <a:pPr algn="ctr" fontAlgn="b"/>
                      <a:r>
                        <a:rPr lang="en-IN" sz="1100" b="0" i="0" u="none" strike="noStrike">
                          <a:solidFill>
                            <a:srgbClr val="000000"/>
                          </a:solidFill>
                          <a:effectLst/>
                          <a:latin typeface="Calibri" panose="020F0502020204030204" pitchFamily="34" charset="0"/>
                        </a:rPr>
                        <a:t>n10</a:t>
                      </a:r>
                    </a:p>
                  </a:txBody>
                  <a:tcPr marL="7620" marR="7620" marT="762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100" b="0" i="0" u="none" strike="noStrike">
                          <a:solidFill>
                            <a:srgbClr val="000000"/>
                          </a:solidFill>
                          <a:effectLst/>
                          <a:latin typeface="Calibri" panose="020F0502020204030204" pitchFamily="34" charset="0"/>
                        </a:rPr>
                        <a:t>1</a:t>
                      </a:r>
                    </a:p>
                  </a:txBody>
                  <a:tcPr marL="7620" marR="7620" marT="7620"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774995214"/>
                  </a:ext>
                </a:extLst>
              </a:tr>
              <a:tr h="182880">
                <a:tc>
                  <a:txBody>
                    <a:bodyPr/>
                    <a:lstStyle/>
                    <a:p>
                      <a:pPr algn="ctr" fontAlgn="b"/>
                      <a:r>
                        <a:rPr lang="en-IN" sz="1100" b="0" i="0" u="none" strike="noStrike">
                          <a:solidFill>
                            <a:srgbClr val="000000"/>
                          </a:solidFill>
                          <a:effectLst/>
                          <a:latin typeface="Calibri" panose="020F0502020204030204" pitchFamily="34" charset="0"/>
                        </a:rPr>
                        <a:t>n6</a:t>
                      </a:r>
                    </a:p>
                  </a:txBody>
                  <a:tcPr marL="7620" marR="7620" marT="762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IN" sz="1100" b="0" i="0" u="none" strike="noStrike" dirty="0">
                          <a:solidFill>
                            <a:srgbClr val="000000"/>
                          </a:solidFill>
                          <a:effectLst/>
                          <a:latin typeface="Calibri" panose="020F0502020204030204" pitchFamily="34" charset="0"/>
                        </a:rPr>
                        <a:t>1</a:t>
                      </a:r>
                    </a:p>
                  </a:txBody>
                  <a:tcPr marL="7620" marR="7620" marT="7620"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699184050"/>
                  </a:ext>
                </a:extLst>
              </a:tr>
              <a:tr h="182880">
                <a:tc>
                  <a:txBody>
                    <a:bodyPr/>
                    <a:lstStyle/>
                    <a:p>
                      <a:pPr algn="ctr" fontAlgn="b"/>
                      <a:r>
                        <a:rPr lang="en-IN" sz="1100" b="0" i="0" u="none" strike="noStrike">
                          <a:solidFill>
                            <a:srgbClr val="000000"/>
                          </a:solidFill>
                          <a:effectLst/>
                          <a:latin typeface="Calibri" panose="020F0502020204030204" pitchFamily="34" charset="0"/>
                        </a:rPr>
                        <a:t>n9</a:t>
                      </a:r>
                    </a:p>
                  </a:txBody>
                  <a:tcPr marL="7620" marR="7620" marT="7620"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r>
                        <a:rPr lang="en-IN" sz="1100" b="0" i="0" u="none" strike="noStrike" dirty="0">
                          <a:solidFill>
                            <a:srgbClr val="000000"/>
                          </a:solidFill>
                          <a:effectLst/>
                          <a:latin typeface="Calibri" panose="020F0502020204030204" pitchFamily="34" charset="0"/>
                        </a:rPr>
                        <a:t>1</a:t>
                      </a:r>
                    </a:p>
                  </a:txBody>
                  <a:tcPr marL="7620" marR="7620" marT="7620"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224952059"/>
                  </a:ext>
                </a:extLst>
              </a:tr>
            </a:tbl>
          </a:graphicData>
        </a:graphic>
      </p:graphicFrame>
      <p:pic>
        <p:nvPicPr>
          <p:cNvPr id="9" name="Picture 8">
            <a:extLst>
              <a:ext uri="{FF2B5EF4-FFF2-40B4-BE49-F238E27FC236}">
                <a16:creationId xmlns:a16="http://schemas.microsoft.com/office/drawing/2014/main" id="{27E6AA06-7D4A-B39C-B630-7E35F2E1B654}"/>
              </a:ext>
            </a:extLst>
          </p:cNvPr>
          <p:cNvPicPr>
            <a:picLocks noChangeAspect="1"/>
          </p:cNvPicPr>
          <p:nvPr/>
        </p:nvPicPr>
        <p:blipFill>
          <a:blip r:embed="rId2"/>
          <a:stretch>
            <a:fillRect/>
          </a:stretch>
        </p:blipFill>
        <p:spPr>
          <a:xfrm>
            <a:off x="6292199" y="3185337"/>
            <a:ext cx="5113220" cy="3158120"/>
          </a:xfrm>
          <a:prstGeom prst="rect">
            <a:avLst/>
          </a:prstGeom>
        </p:spPr>
      </p:pic>
    </p:spTree>
    <p:extLst>
      <p:ext uri="{BB962C8B-B14F-4D97-AF65-F5344CB8AC3E}">
        <p14:creationId xmlns:p14="http://schemas.microsoft.com/office/powerpoint/2010/main" val="1743765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gradFill>
          <a:gsLst>
            <a:gs pos="100000">
              <a:schemeClr val="bg2">
                <a:tint val="97000"/>
                <a:hueMod val="92000"/>
                <a:satMod val="169000"/>
                <a:lumMod val="68000"/>
                <a:lumOff val="32000"/>
              </a:schemeClr>
            </a:gs>
            <a:gs pos="100000">
              <a:schemeClr val="bg2">
                <a:shade val="96000"/>
                <a:satMod val="120000"/>
                <a:lumMod val="0"/>
              </a:schemeClr>
            </a:gs>
          </a:gsLst>
          <a:lin ang="612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E09C0-DDBC-702D-BD5B-CA67B9782B17}"/>
              </a:ext>
            </a:extLst>
          </p:cNvPr>
          <p:cNvSpPr>
            <a:spLocks noGrp="1"/>
          </p:cNvSpPr>
          <p:nvPr>
            <p:ph type="title"/>
          </p:nvPr>
        </p:nvSpPr>
        <p:spPr>
          <a:xfrm>
            <a:off x="1199535" y="445434"/>
            <a:ext cx="10202965" cy="1293028"/>
          </a:xfrm>
          <a:noFill/>
        </p:spPr>
        <p:txBody>
          <a:bodyPr>
            <a:normAutofit/>
          </a:bodyPr>
          <a:lstStyle/>
          <a:p>
            <a:pPr marL="457200" indent="-457200" algn="l">
              <a:buFont typeface="Wingdings" panose="05000000000000000000" pitchFamily="2" charset="2"/>
              <a:buChar char="v"/>
            </a:pPr>
            <a:r>
              <a:rPr lang="en-IN" sz="2800" b="1" dirty="0">
                <a:solidFill>
                  <a:schemeClr val="bg1"/>
                </a:solidFill>
              </a:rPr>
              <a:t>Insights:</a:t>
            </a:r>
          </a:p>
        </p:txBody>
      </p:sp>
      <p:sp>
        <p:nvSpPr>
          <p:cNvPr id="3" name="Content Placeholder 2">
            <a:extLst>
              <a:ext uri="{FF2B5EF4-FFF2-40B4-BE49-F238E27FC236}">
                <a16:creationId xmlns:a16="http://schemas.microsoft.com/office/drawing/2014/main" id="{14AFD718-F4F2-F58B-72AB-A101A56CF8C2}"/>
              </a:ext>
            </a:extLst>
          </p:cNvPr>
          <p:cNvSpPr>
            <a:spLocks noGrp="1"/>
          </p:cNvSpPr>
          <p:nvPr>
            <p:ph idx="1"/>
          </p:nvPr>
        </p:nvSpPr>
        <p:spPr>
          <a:xfrm>
            <a:off x="1280190" y="1607576"/>
            <a:ext cx="10465608" cy="3511963"/>
          </a:xfrm>
        </p:spPr>
        <p:txBody>
          <a:bodyPr>
            <a:normAutofit fontScale="85000" lnSpcReduction="20000"/>
          </a:bodyPr>
          <a:lstStyle/>
          <a:p>
            <a:pPr>
              <a:lnSpc>
                <a:spcPct val="107000"/>
              </a:lnSpc>
              <a:spcAft>
                <a:spcPts val="800"/>
              </a:spcAft>
            </a:pPr>
            <a:r>
              <a:rPr lang="en-IN" sz="2100" dirty="0">
                <a:solidFill>
                  <a:schemeClr val="bg1"/>
                </a:solidFill>
                <a:latin typeface="Calibri" panose="020F0502020204030204" pitchFamily="34" charset="0"/>
                <a:ea typeface="Calibri" panose="020F0502020204030204" pitchFamily="34" charset="0"/>
                <a:cs typeface="Calibri" panose="020F0502020204030204" pitchFamily="34" charset="0"/>
              </a:rPr>
              <a:t>High gender ratio can negatively impact the company image in public domain. There are 58% of Male and 42% of Females hired by the company. Company should focus to maintain the gender ration close to 1.</a:t>
            </a:r>
          </a:p>
          <a:p>
            <a:pPr>
              <a:lnSpc>
                <a:spcPct val="107000"/>
              </a:lnSpc>
              <a:spcAft>
                <a:spcPts val="800"/>
              </a:spcAft>
            </a:pPr>
            <a:r>
              <a:rPr lang="en-IN" sz="21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The Quality team should ensure that the data is  complete and relevant. The incomplete and irrelevant information can given the wrong  analysis results.</a:t>
            </a:r>
          </a:p>
          <a:p>
            <a:pPr>
              <a:lnSpc>
                <a:spcPct val="107000"/>
              </a:lnSpc>
              <a:spcAft>
                <a:spcPts val="800"/>
              </a:spcAft>
            </a:pPr>
            <a:r>
              <a:rPr lang="en-IN" sz="2100" dirty="0">
                <a:solidFill>
                  <a:schemeClr val="bg1"/>
                </a:solidFill>
                <a:latin typeface="Calibri" panose="020F0502020204030204" pitchFamily="34" charset="0"/>
                <a:ea typeface="Calibri" panose="020F0502020204030204" pitchFamily="34" charset="0"/>
                <a:cs typeface="Calibri" panose="020F0502020204030204" pitchFamily="34" charset="0"/>
              </a:rPr>
              <a:t>Maximum number of people are hired for Operations Department and Service Department. The hiring teams can focus on more openings for those department.</a:t>
            </a:r>
          </a:p>
          <a:p>
            <a:pPr>
              <a:lnSpc>
                <a:spcPct val="107000"/>
              </a:lnSpc>
              <a:spcAft>
                <a:spcPts val="800"/>
              </a:spcAft>
            </a:pPr>
            <a:endParaRPr lang="en-IN" sz="2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nSpc>
                <a:spcPct val="100000"/>
              </a:lnSpc>
              <a:spcBef>
                <a:spcPct val="0"/>
              </a:spcBef>
              <a:spcAft>
                <a:spcPts val="800"/>
              </a:spcAft>
              <a:buFont typeface="Wingdings" panose="05000000000000000000" pitchFamily="2" charset="2"/>
              <a:buChar char="v"/>
            </a:pPr>
            <a:r>
              <a:rPr lang="en-IN" sz="3000" b="1" cap="all" dirty="0">
                <a:solidFill>
                  <a:schemeClr val="bg1"/>
                </a:solidFill>
                <a:latin typeface="+mj-lt"/>
                <a:ea typeface="+mj-ea"/>
                <a:cs typeface="+mj-cs"/>
              </a:rPr>
              <a:t>Conclusion:</a:t>
            </a:r>
          </a:p>
          <a:p>
            <a:r>
              <a:rPr lang="en-IN" sz="2100" dirty="0">
                <a:solidFill>
                  <a:schemeClr val="bg1"/>
                </a:solidFill>
                <a:latin typeface="Calibri" panose="020F0502020204030204" pitchFamily="34" charset="0"/>
                <a:ea typeface="Calibri" panose="020F0502020204030204" pitchFamily="34" charset="0"/>
                <a:cs typeface="Calibri" panose="020F0502020204030204" pitchFamily="34" charset="0"/>
              </a:rPr>
              <a:t>The insights could potentially help the company to improve its hiring process and make better hiring decisions in the future.</a:t>
            </a:r>
          </a:p>
        </p:txBody>
      </p:sp>
    </p:spTree>
    <p:extLst>
      <p:ext uri="{BB962C8B-B14F-4D97-AF65-F5344CB8AC3E}">
        <p14:creationId xmlns:p14="http://schemas.microsoft.com/office/powerpoint/2010/main" val="1918813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gradFill>
          <a:gsLst>
            <a:gs pos="100000">
              <a:schemeClr val="bg2">
                <a:tint val="97000"/>
                <a:hueMod val="92000"/>
                <a:satMod val="169000"/>
                <a:lumMod val="68000"/>
                <a:lumOff val="32000"/>
              </a:schemeClr>
            </a:gs>
            <a:gs pos="100000">
              <a:schemeClr val="bg2">
                <a:shade val="96000"/>
                <a:satMod val="120000"/>
                <a:lumMod val="0"/>
              </a:schemeClr>
            </a:gs>
          </a:gsLst>
          <a:lin ang="6120000" scaled="1"/>
        </a:gradFill>
        <a:effectLst/>
      </p:bgPr>
    </p:bg>
    <p:spTree>
      <p:nvGrpSpPr>
        <p:cNvPr id="1" name="Shape 258"/>
        <p:cNvGrpSpPr/>
        <p:nvPr/>
      </p:nvGrpSpPr>
      <p:grpSpPr>
        <a:xfrm>
          <a:off x="0" y="0"/>
          <a:ext cx="0" cy="0"/>
          <a:chOff x="0" y="0"/>
          <a:chExt cx="0" cy="0"/>
        </a:xfrm>
      </p:grpSpPr>
      <p:sp>
        <p:nvSpPr>
          <p:cNvPr id="259" name="Google Shape;259;p26"/>
          <p:cNvSpPr txBox="1">
            <a:spLocks noGrp="1"/>
          </p:cNvSpPr>
          <p:nvPr>
            <p:ph type="title"/>
          </p:nvPr>
        </p:nvSpPr>
        <p:spPr>
          <a:xfrm>
            <a:off x="932468" y="1138123"/>
            <a:ext cx="10515600" cy="1325563"/>
          </a:xfrm>
          <a:prstGeom prst="rect">
            <a:avLst/>
          </a:prstGeom>
          <a:noFill/>
          <a:ln>
            <a:noFill/>
          </a:ln>
        </p:spPr>
        <p:txBody>
          <a:bodyPr spcFirstLastPara="1" wrap="square" lIns="91425" tIns="45700" rIns="91425" bIns="45700" anchor="ctr" anchorCtr="0">
            <a:normAutofit/>
          </a:bodyPr>
          <a:lstStyle/>
          <a:p>
            <a:pPr marL="571500" lvl="0" indent="-571500" algn="l" rtl="0">
              <a:lnSpc>
                <a:spcPct val="90000"/>
              </a:lnSpc>
              <a:spcBef>
                <a:spcPts val="0"/>
              </a:spcBef>
              <a:spcAft>
                <a:spcPts val="0"/>
              </a:spcAft>
              <a:buClr>
                <a:schemeClr val="dk1"/>
              </a:buClr>
              <a:buSzPts val="4000"/>
              <a:buFont typeface="Noto Sans Symbols"/>
              <a:buChar char="❖"/>
            </a:pPr>
            <a:r>
              <a:rPr lang="en-IN" sz="3200" b="1" dirty="0">
                <a:solidFill>
                  <a:schemeClr val="bg1"/>
                </a:solidFill>
              </a:rPr>
              <a:t>Drive Link:</a:t>
            </a:r>
            <a:endParaRPr sz="3200" dirty="0">
              <a:solidFill>
                <a:schemeClr val="bg1"/>
              </a:solidFill>
            </a:endParaRPr>
          </a:p>
        </p:txBody>
      </p:sp>
      <p:sp>
        <p:nvSpPr>
          <p:cNvPr id="260" name="Google Shape;260;p26"/>
          <p:cNvSpPr txBox="1">
            <a:spLocks noGrp="1"/>
          </p:cNvSpPr>
          <p:nvPr>
            <p:ph type="body" idx="1"/>
          </p:nvPr>
        </p:nvSpPr>
        <p:spPr>
          <a:xfrm>
            <a:off x="1002891" y="3252387"/>
            <a:ext cx="10515600" cy="2263510"/>
          </a:xfrm>
          <a:prstGeom prst="rect">
            <a:avLst/>
          </a:prstGeom>
          <a:noFill/>
          <a:ln>
            <a:noFill/>
          </a:ln>
        </p:spPr>
        <p:txBody>
          <a:bodyPr spcFirstLastPara="1" wrap="square" lIns="91425" tIns="45700" rIns="91425" bIns="45700" anchor="t" anchorCtr="0">
            <a:normAutofit/>
          </a:bodyPr>
          <a:lstStyle/>
          <a:p>
            <a:pPr marL="457200" lvl="1" indent="0" algn="l" rtl="0">
              <a:lnSpc>
                <a:spcPct val="90000"/>
              </a:lnSpc>
              <a:spcBef>
                <a:spcPts val="0"/>
              </a:spcBef>
              <a:spcAft>
                <a:spcPts val="0"/>
              </a:spcAft>
              <a:buClr>
                <a:schemeClr val="dk1"/>
              </a:buClr>
              <a:buSzPts val="2800"/>
              <a:buNone/>
            </a:pPr>
            <a:endParaRPr sz="2800" dirty="0"/>
          </a:p>
          <a:p>
            <a:pPr marL="571500" indent="-571500">
              <a:spcBef>
                <a:spcPts val="0"/>
              </a:spcBef>
              <a:buClr>
                <a:schemeClr val="dk1"/>
              </a:buClr>
              <a:buSzPts val="4000"/>
              <a:buFont typeface="Noto Sans Symbols"/>
              <a:buChar char="❖"/>
            </a:pPr>
            <a:r>
              <a:rPr lang="en-IN" sz="3200" b="1" cap="all" dirty="0">
                <a:solidFill>
                  <a:schemeClr val="bg1"/>
                </a:solidFill>
                <a:latin typeface="+mj-lt"/>
                <a:ea typeface="+mj-ea"/>
                <a:cs typeface="+mj-cs"/>
              </a:rPr>
              <a:t>EXCEL FILE link:</a:t>
            </a:r>
          </a:p>
        </p:txBody>
      </p:sp>
      <p:graphicFrame>
        <p:nvGraphicFramePr>
          <p:cNvPr id="3" name="Object 2">
            <a:extLst>
              <a:ext uri="{FF2B5EF4-FFF2-40B4-BE49-F238E27FC236}">
                <a16:creationId xmlns:a16="http://schemas.microsoft.com/office/drawing/2014/main" id="{CF0AFFD4-8D09-B0B7-8857-1AF42E91AC6C}"/>
              </a:ext>
            </a:extLst>
          </p:cNvPr>
          <p:cNvGraphicFramePr>
            <a:graphicFrameLocks noChangeAspect="1"/>
          </p:cNvGraphicFramePr>
          <p:nvPr>
            <p:extLst>
              <p:ext uri="{D42A27DB-BD31-4B8C-83A1-F6EECF244321}">
                <p14:modId xmlns:p14="http://schemas.microsoft.com/office/powerpoint/2010/main" val="3945763727"/>
              </p:ext>
            </p:extLst>
          </p:nvPr>
        </p:nvGraphicFramePr>
        <p:xfrm>
          <a:off x="1617406" y="4387637"/>
          <a:ext cx="2187678" cy="1895229"/>
        </p:xfrm>
        <a:graphic>
          <a:graphicData uri="http://schemas.openxmlformats.org/presentationml/2006/ole">
            <mc:AlternateContent xmlns:mc="http://schemas.openxmlformats.org/markup-compatibility/2006">
              <mc:Choice xmlns:v="urn:schemas-microsoft-com:vml" Requires="v">
                <p:oleObj name="Worksheet" showAsIcon="1" r:id="rId3" imgW="914400" imgH="792417" progId="Excel.Sheet.12">
                  <p:embed/>
                </p:oleObj>
              </mc:Choice>
              <mc:Fallback>
                <p:oleObj name="Worksheet" showAsIcon="1" r:id="rId3" imgW="914400" imgH="792417" progId="Excel.Sheet.12">
                  <p:embed/>
                  <p:pic>
                    <p:nvPicPr>
                      <p:cNvPr id="0" name=""/>
                      <p:cNvPicPr/>
                      <p:nvPr/>
                    </p:nvPicPr>
                    <p:blipFill>
                      <a:blip r:embed="rId4"/>
                      <a:stretch>
                        <a:fillRect/>
                      </a:stretch>
                    </p:blipFill>
                    <p:spPr>
                      <a:xfrm>
                        <a:off x="1617406" y="4387637"/>
                        <a:ext cx="2187678" cy="1895229"/>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AE8AEBE7-7271-E6FA-64D2-B13FC1AC6F0D}"/>
              </a:ext>
            </a:extLst>
          </p:cNvPr>
          <p:cNvSpPr txBox="1"/>
          <p:nvPr/>
        </p:nvSpPr>
        <p:spPr>
          <a:xfrm>
            <a:off x="932468" y="2211705"/>
            <a:ext cx="10327064" cy="923330"/>
          </a:xfrm>
          <a:prstGeom prst="rect">
            <a:avLst/>
          </a:prstGeom>
          <a:noFill/>
        </p:spPr>
        <p:txBody>
          <a:bodyPr wrap="square">
            <a:spAutoFit/>
          </a:bodyPr>
          <a:lstStyle/>
          <a:p>
            <a:r>
              <a:rPr lang="en-IN" dirty="0">
                <a:hlinkClick r:id="rId5">
                  <a:extLst>
                    <a:ext uri="{A12FA001-AC4F-418D-AE19-62706E023703}">
                      <ahyp:hlinkClr xmlns:ahyp="http://schemas.microsoft.com/office/drawing/2018/hyperlinkcolor" val="tx"/>
                    </a:ext>
                  </a:extLst>
                </a:hlinkClick>
              </a:rPr>
              <a:t>https://drive.google.com/drive/folders/14dixBmt2-qM24qdBNZIh1D0wV-dSN52m?usp=drive_link</a:t>
            </a:r>
            <a:endParaRPr lang="en-IN" dirty="0"/>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gradFill>
          <a:gsLst>
            <a:gs pos="100000">
              <a:schemeClr val="bg2">
                <a:tint val="97000"/>
                <a:hueMod val="92000"/>
                <a:satMod val="169000"/>
                <a:lumMod val="68000"/>
                <a:lumOff val="32000"/>
              </a:schemeClr>
            </a:gs>
            <a:gs pos="100000">
              <a:schemeClr val="bg2">
                <a:shade val="96000"/>
                <a:satMod val="120000"/>
                <a:lumMod val="0"/>
              </a:schemeClr>
            </a:gs>
          </a:gsLst>
          <a:lin ang="6120000" scaled="1"/>
        </a:gradFill>
        <a:effectLst/>
      </p:bgPr>
    </p:bg>
    <p:spTree>
      <p:nvGrpSpPr>
        <p:cNvPr id="1" name="Shape 264"/>
        <p:cNvGrpSpPr/>
        <p:nvPr/>
      </p:nvGrpSpPr>
      <p:grpSpPr>
        <a:xfrm>
          <a:off x="0" y="0"/>
          <a:ext cx="0" cy="0"/>
          <a:chOff x="0" y="0"/>
          <a:chExt cx="0" cy="0"/>
        </a:xfrm>
      </p:grpSpPr>
      <p:sp>
        <p:nvSpPr>
          <p:cNvPr id="265" name="Google Shape;265;p27"/>
          <p:cNvSpPr txBox="1">
            <a:spLocks noGrp="1"/>
          </p:cNvSpPr>
          <p:nvPr>
            <p:ph type="body" idx="1"/>
          </p:nvPr>
        </p:nvSpPr>
        <p:spPr>
          <a:xfrm>
            <a:off x="762785" y="1159497"/>
            <a:ext cx="10515600" cy="514944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8800"/>
              <a:buNone/>
            </a:pPr>
            <a:endParaRPr sz="8800" b="1" dirty="0"/>
          </a:p>
          <a:p>
            <a:pPr marL="0" lvl="0" indent="0" algn="ctr" rtl="0">
              <a:lnSpc>
                <a:spcPct val="90000"/>
              </a:lnSpc>
              <a:spcBef>
                <a:spcPts val="1000"/>
              </a:spcBef>
              <a:spcAft>
                <a:spcPts val="0"/>
              </a:spcAft>
              <a:buClr>
                <a:schemeClr val="dk1"/>
              </a:buClr>
              <a:buSzPts val="8800"/>
              <a:buNone/>
            </a:pPr>
            <a:r>
              <a:rPr lang="en-IN" sz="8800" b="1" dirty="0">
                <a:solidFill>
                  <a:schemeClr val="bg1"/>
                </a:solidFill>
              </a:rPr>
              <a:t>THANK YOU</a:t>
            </a:r>
            <a:endParaRPr dirty="0">
              <a:solidFill>
                <a:schemeClr val="bg1"/>
              </a:solidFill>
            </a:endParaRPr>
          </a:p>
        </p:txBody>
      </p:sp>
    </p:spTree>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TM04033937[[fn=Vapor Trail]]</Template>
  <TotalTime>235</TotalTime>
  <Words>966</Words>
  <Application>Microsoft Office PowerPoint</Application>
  <PresentationFormat>Widescreen</PresentationFormat>
  <Paragraphs>128</Paragraphs>
  <Slides>12</Slides>
  <Notes>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0" baseType="lpstr">
      <vt:lpstr>Arial</vt:lpstr>
      <vt:lpstr>Arial Black</vt:lpstr>
      <vt:lpstr>Calibri</vt:lpstr>
      <vt:lpstr>Century Gothic</vt:lpstr>
      <vt:lpstr>Noto Sans Symbols</vt:lpstr>
      <vt:lpstr>Wingdings</vt:lpstr>
      <vt:lpstr>Vapor Trail</vt:lpstr>
      <vt:lpstr>Microsoft Excel Worksheet</vt:lpstr>
      <vt:lpstr>PowerPoint Presentation</vt:lpstr>
      <vt:lpstr>PROJECT DESCRIPTION</vt:lpstr>
      <vt:lpstr>APPROACH</vt:lpstr>
      <vt:lpstr>Microsoft Office 2019 is used MS Excel is used to enter data in table format, perform computations, plot graphs etc. Here it is used to filter data and clean the data to get insights for hiring process.</vt:lpstr>
      <vt:lpstr>Data Analytics Tasks</vt:lpstr>
      <vt:lpstr>PowerPoint Presentation</vt:lpstr>
      <vt:lpstr>PowerPoint Presentation</vt:lpstr>
      <vt:lpstr>PowerPoint Presentation</vt:lpstr>
      <vt:lpstr>PowerPoint Presentation</vt:lpstr>
      <vt:lpstr>Insights:</vt:lpstr>
      <vt:lpstr>Drive Link: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jaishree shivanaikar</dc:creator>
  <cp:lastModifiedBy>jaishree shivanaikar</cp:lastModifiedBy>
  <cp:revision>7</cp:revision>
  <dcterms:created xsi:type="dcterms:W3CDTF">2024-11-13T09:39:42Z</dcterms:created>
  <dcterms:modified xsi:type="dcterms:W3CDTF">2024-11-13T14:49:14Z</dcterms:modified>
</cp:coreProperties>
</file>