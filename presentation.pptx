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083267-663C-4D9C-83FD-2354748F6C86}" type="datetimeFigureOut">
              <a:rPr lang="en-IN" smtClean="0"/>
              <a:t>09-10-2024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4145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083267-663C-4D9C-83FD-2354748F6C86}" type="datetimeFigureOut">
              <a:rPr lang="en-IN" smtClean="0"/>
              <a:t>09-10-2024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3104482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083267-663C-4D9C-83FD-2354748F6C86}" type="datetimeFigureOut">
              <a:rPr lang="en-IN" smtClean="0"/>
              <a:t>09-10-2024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119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083267-663C-4D9C-83FD-2354748F6C86}" type="datetimeFigureOut">
              <a:rPr lang="en-IN" smtClean="0"/>
              <a:t>09-10-2024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955858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083267-663C-4D9C-83FD-2354748F6C86}" type="datetimeFigureOut">
              <a:rPr lang="en-IN" smtClean="0"/>
              <a:t>09-10-2024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2561373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083267-663C-4D9C-83FD-2354748F6C86}" type="datetimeFigureOut">
              <a:rPr lang="en-IN" smtClean="0"/>
              <a:t>09-10-2024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373330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9083267-663C-4D9C-83FD-2354748F6C86}" type="datetimeFigureOut">
              <a:rPr lang="en-IN" smtClean="0"/>
              <a:t>09-10-2024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144884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9083267-663C-4D9C-83FD-2354748F6C86}" type="datetimeFigureOut">
              <a:rPr lang="en-IN" smtClean="0"/>
              <a:t>09-10-2024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0571F18-4CE3-4974-8BDB-3C4C277152D7}" type="slidenum">
              <a:rPr lang="en-IN" smtClean="0"/>
              <a:t>‹#›</a:t>
            </a:fld>
            <a:endParaRPr lang="en-IN"/>
          </a:p>
        </p:txBody>
      </p:sp>
    </p:spTree>
    <p:extLst>
      <p:ext uri="{BB962C8B-B14F-4D97-AF65-F5344CB8AC3E}">
        <p14:creationId xmlns:p14="http://schemas.microsoft.com/office/powerpoint/2010/main" val="684741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083267-663C-4D9C-83FD-2354748F6C86}" type="datetimeFigureOut">
              <a:rPr lang="en-IN" smtClean="0"/>
              <a:t>09-10-2024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3405681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083267-663C-4D9C-83FD-2354748F6C86}" type="datetimeFigureOut">
              <a:rPr lang="en-IN" smtClean="0"/>
              <a:t>09-10-2024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1082871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083267-663C-4D9C-83FD-2354748F6C86}" type="datetimeFigureOut">
              <a:rPr lang="en-IN" smtClean="0"/>
              <a:t>09-10-2024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71F18-4CE3-4974-8BDB-3C4C277152D7}" type="slidenum">
              <a:rPr lang="en-IN" smtClean="0"/>
              <a:t>‹#›</a:t>
            </a:fld>
            <a:endParaRPr lang="en-IN"/>
          </a:p>
        </p:txBody>
      </p:sp>
    </p:spTree>
    <p:extLst>
      <p:ext uri="{BB962C8B-B14F-4D97-AF65-F5344CB8AC3E}">
        <p14:creationId xmlns:p14="http://schemas.microsoft.com/office/powerpoint/2010/main" val="3930205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9083267-663C-4D9C-83FD-2354748F6C86}" type="datetimeFigureOut">
              <a:rPr lang="en-IN" smtClean="0"/>
              <a:t>09-10-2024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0571F18-4CE3-4974-8BDB-3C4C277152D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332211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drive.google.com/drive/folders/1rAJr8OjvTlOzrcd_ckhmbj43VCyijD_U?usp=drive_link"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6CD5A17-1D59-5C2D-1665-399BD37A17EB}"/>
              </a:ext>
            </a:extLst>
          </p:cNvPr>
          <p:cNvSpPr>
            <a:spLocks noGrp="1"/>
          </p:cNvSpPr>
          <p:nvPr>
            <p:ph type="subTitle" idx="1"/>
          </p:nvPr>
        </p:nvSpPr>
        <p:spPr>
          <a:xfrm>
            <a:off x="327141" y="358219"/>
            <a:ext cx="11802359" cy="6231117"/>
          </a:xfrm>
        </p:spPr>
        <p:txBody>
          <a:bodyPr/>
          <a:lstStyle/>
          <a:p>
            <a:pPr algn="ctr"/>
            <a:r>
              <a:rPr lang="en-IN" sz="4000" b="1" dirty="0">
                <a:solidFill>
                  <a:srgbClr val="000000"/>
                </a:solidFill>
                <a:effectLst/>
                <a:latin typeface="Arial Rounded MT Bold" panose="020F0704030504030204" pitchFamily="34" charset="0"/>
                <a:ea typeface="Times New Roman" panose="02020603050405020304" pitchFamily="18" charset="0"/>
                <a:cs typeface="Arial" panose="020B0604020202020204" pitchFamily="34" charset="0"/>
              </a:rPr>
              <a:t>Instagram User Analytics</a:t>
            </a:r>
            <a:endParaRPr lang="en-IN" sz="4000" b="1" dirty="0">
              <a:effectLst/>
              <a:latin typeface="Arial Rounded MT Bold" panose="020F0704030504030204" pitchFamily="34" charset="0"/>
              <a:ea typeface="Calibri" panose="020F0502020204030204" pitchFamily="34" charset="0"/>
              <a:cs typeface="Times New Roman" panose="02020603050405020304" pitchFamily="18" charset="0"/>
            </a:endParaRPr>
          </a:p>
          <a:p>
            <a:endParaRPr lang="en-IN" dirty="0"/>
          </a:p>
        </p:txBody>
      </p:sp>
      <p:pic>
        <p:nvPicPr>
          <p:cNvPr id="1026" name="Picture 2">
            <a:extLst>
              <a:ext uri="{FF2B5EF4-FFF2-40B4-BE49-F238E27FC236}">
                <a16:creationId xmlns:a16="http://schemas.microsoft.com/office/drawing/2014/main" id="{CAA55A9F-A5C6-3E90-331D-EF4093CF9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169" y="1121790"/>
            <a:ext cx="10953946" cy="524130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F2CCC84C-FA84-FC85-CAE1-89CB2E2800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4299" y="1489436"/>
            <a:ext cx="3076146" cy="2403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869113"/>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A6212-E2F3-36F2-441F-1449E1406484}"/>
              </a:ext>
            </a:extLst>
          </p:cNvPr>
          <p:cNvSpPr>
            <a:spLocks noGrp="1"/>
          </p:cNvSpPr>
          <p:nvPr>
            <p:ph type="title"/>
          </p:nvPr>
        </p:nvSpPr>
        <p:spPr>
          <a:xfrm>
            <a:off x="583676" y="845892"/>
            <a:ext cx="10515600" cy="1325563"/>
          </a:xfrm>
        </p:spPr>
        <p:txBody>
          <a:bodyPr/>
          <a:lstStyle/>
          <a:p>
            <a:pPr algn="ctr"/>
            <a:r>
              <a:rPr lang="en-IN" sz="4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PROJECT DESCRIPTION</a:t>
            </a:r>
            <a:br>
              <a:rPr lang="en-IN" sz="44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B999C0A-D7B8-994F-02E9-CE553993AC44}"/>
              </a:ext>
            </a:extLst>
          </p:cNvPr>
          <p:cNvSpPr>
            <a:spLocks noGrp="1"/>
          </p:cNvSpPr>
          <p:nvPr>
            <p:ph idx="1"/>
          </p:nvPr>
        </p:nvSpPr>
        <p:spPr/>
        <p:txBody>
          <a:bodyPr>
            <a:normAutofit lnSpcReduction="10000"/>
          </a:bodyPr>
          <a:lstStyle/>
          <a:p>
            <a:pPr indent="0">
              <a:lnSpc>
                <a:spcPct val="107000"/>
              </a:lnSpc>
              <a:spcAft>
                <a:spcPts val="800"/>
              </a:spcAft>
              <a:buNone/>
            </a:pPr>
            <a:r>
              <a:rPr lang="en-IN"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Instagram is widely used social networking service. Interactions and engagement done with the Instagram application need to be analysed to provide valuable insights to the business for its growth. Analysis of data is done by tracking how</a:t>
            </a:r>
            <a:r>
              <a:rPr lang="en-IN" sz="24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the</a:t>
            </a:r>
            <a:r>
              <a:rPr lang="en-IN"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users engage with a digital product, such as a software application or a mobile app. Based on the analysis the insights will be  taken to help  the product manager and the rest of the team  to make informed decisions about the future direction of the Instagram app. The marketing team uses these insights to launch a new campaign, the product team might use them to decide on new features to build, and the development team might use them to improve the overall user experience.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474514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708566-1037-8638-556A-F869EC03F5C7}"/>
              </a:ext>
            </a:extLst>
          </p:cNvPr>
          <p:cNvSpPr txBox="1"/>
          <p:nvPr/>
        </p:nvSpPr>
        <p:spPr>
          <a:xfrm>
            <a:off x="348792" y="932754"/>
            <a:ext cx="11726944" cy="3811749"/>
          </a:xfrm>
          <a:prstGeom prst="rect">
            <a:avLst/>
          </a:prstGeom>
          <a:noFill/>
        </p:spPr>
        <p:txBody>
          <a:bodyPr wrap="square">
            <a:spAutoFit/>
          </a:bodyPr>
          <a:lstStyle/>
          <a:p>
            <a:pPr marL="457200">
              <a:lnSpc>
                <a:spcPct val="107000"/>
              </a:lnSpc>
              <a:spcAft>
                <a:spcPts val="800"/>
              </a:spcAft>
            </a:pPr>
            <a:r>
              <a:rPr lang="en-IN" sz="3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APPROACH</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dirty="0">
                <a:solidFill>
                  <a:srgbClr val="8492A6"/>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dataset collected is converted to SQL tables to gather information required for the analysis. More than one table are used to find the dependences and relationships to retrieve the insights. Based on the queries proposed for Marketing Analysis and Investor Metrics the data insights are taken to give complete and accurate results.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1800" dirty="0">
                <a:solidFill>
                  <a:srgbClr val="8492A6"/>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3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TECH-STACK USED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My SQL Workbench 8.0 community version is used to perform the tasks. It has a good graphical user interface which allows to execute the queries with ease.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1800" dirty="0">
                <a:solidFill>
                  <a:srgbClr val="8492A6"/>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083385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3C7D816-72F1-3C08-A2FA-EE9FBC8DFB38}"/>
              </a:ext>
            </a:extLst>
          </p:cNvPr>
          <p:cNvSpPr txBox="1"/>
          <p:nvPr/>
        </p:nvSpPr>
        <p:spPr>
          <a:xfrm>
            <a:off x="339365" y="239830"/>
            <a:ext cx="10244579" cy="707886"/>
          </a:xfrm>
          <a:prstGeom prst="rect">
            <a:avLst/>
          </a:prstGeom>
          <a:noFill/>
        </p:spPr>
        <p:txBody>
          <a:bodyPr wrap="square">
            <a:spAutoFit/>
          </a:bodyPr>
          <a:lstStyle/>
          <a:p>
            <a:pPr algn="ctr"/>
            <a:r>
              <a:rPr lang="en-IN" sz="4000" b="1" dirty="0">
                <a:latin typeface="Calibri" panose="020F0502020204030204" pitchFamily="34" charset="0"/>
              </a:rPr>
              <a:t>INSIGHTS</a:t>
            </a:r>
            <a:endParaRPr lang="en-IN" sz="4000" dirty="0"/>
          </a:p>
        </p:txBody>
      </p:sp>
      <p:sp>
        <p:nvSpPr>
          <p:cNvPr id="8" name="TextBox 7">
            <a:extLst>
              <a:ext uri="{FF2B5EF4-FFF2-40B4-BE49-F238E27FC236}">
                <a16:creationId xmlns:a16="http://schemas.microsoft.com/office/drawing/2014/main" id="{E78D6718-F643-51D8-EB92-0561771DA712}"/>
              </a:ext>
            </a:extLst>
          </p:cNvPr>
          <p:cNvSpPr txBox="1"/>
          <p:nvPr/>
        </p:nvSpPr>
        <p:spPr>
          <a:xfrm>
            <a:off x="1114720" y="1301659"/>
            <a:ext cx="6094428" cy="532903"/>
          </a:xfrm>
          <a:prstGeom prst="rect">
            <a:avLst/>
          </a:prstGeom>
          <a:noFill/>
        </p:spPr>
        <p:txBody>
          <a:bodyPr wrap="square">
            <a:spAutoFit/>
          </a:bodyPr>
          <a:lstStyle/>
          <a:p>
            <a:pPr marL="342900" lvl="0" indent="-342900">
              <a:lnSpc>
                <a:spcPct val="107000"/>
              </a:lnSpc>
              <a:spcAft>
                <a:spcPts val="800"/>
              </a:spcAft>
              <a:buFont typeface="Wingdings" panose="05000000000000000000" pitchFamily="2" charset="2"/>
              <a:buChar char=""/>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QUERY 1</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546A8876-11B6-824A-E45F-04DE838D1EA8}"/>
              </a:ext>
            </a:extLst>
          </p:cNvPr>
          <p:cNvSpPr txBox="1"/>
          <p:nvPr/>
        </p:nvSpPr>
        <p:spPr>
          <a:xfrm>
            <a:off x="822488" y="1834563"/>
            <a:ext cx="11369511" cy="671915"/>
          </a:xfrm>
          <a:prstGeom prst="rect">
            <a:avLst/>
          </a:prstGeom>
          <a:noFill/>
        </p:spPr>
        <p:txBody>
          <a:bodyPr wrap="square">
            <a:spAutoFit/>
          </a:bodyPr>
          <a:lstStyle/>
          <a:p>
            <a:pPr marL="6858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below query is written to identify the five oldest users on Instagram from the provided database who were using the platform for the longest time which helps the marketing team to reward the user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6B0A7413-8A38-7B4F-BE49-E030E0496DA5}"/>
              </a:ext>
            </a:extLst>
          </p:cNvPr>
          <p:cNvPicPr>
            <a:picLocks noChangeAspect="1"/>
          </p:cNvPicPr>
          <p:nvPr/>
        </p:nvPicPr>
        <p:blipFill>
          <a:blip r:embed="rId2"/>
          <a:stretch>
            <a:fillRect/>
          </a:stretch>
        </p:blipFill>
        <p:spPr>
          <a:xfrm>
            <a:off x="1581385" y="3175576"/>
            <a:ext cx="3405394" cy="1828995"/>
          </a:xfrm>
          <a:prstGeom prst="rect">
            <a:avLst/>
          </a:prstGeom>
        </p:spPr>
      </p:pic>
    </p:spTree>
    <p:extLst>
      <p:ext uri="{BB962C8B-B14F-4D97-AF65-F5344CB8AC3E}">
        <p14:creationId xmlns:p14="http://schemas.microsoft.com/office/powerpoint/2010/main" val="22538474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F9ACC1D-FD4C-3CE8-AF83-CB713BFBFF47}"/>
              </a:ext>
            </a:extLst>
          </p:cNvPr>
          <p:cNvSpPr>
            <a:spLocks noChangeArrowheads="1"/>
          </p:cNvSpPr>
          <p:nvPr/>
        </p:nvSpPr>
        <p:spPr bwMode="auto">
          <a:xfrm>
            <a:off x="1173638" y="636838"/>
            <a:ext cx="4501298"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00"/>
                </a:solidFill>
                <a:effectLst/>
                <a:ea typeface="Times New Roman" panose="02020603050405020304" pitchFamily="18" charset="0"/>
                <a:cs typeface="Calibri" panose="020F0502020204030204" pitchFamily="34" charset="0"/>
              </a:rPr>
              <a:t>RESULT:</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1">
            <a:extLst>
              <a:ext uri="{FF2B5EF4-FFF2-40B4-BE49-F238E27FC236}">
                <a16:creationId xmlns:a16="http://schemas.microsoft.com/office/drawing/2014/main" id="{B9C9AF05-7811-C2C8-5188-6C06C9FFEA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638" y="1360113"/>
            <a:ext cx="7237496" cy="2938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720C13-8123-3D69-93E6-E7AA2B91B11E}"/>
              </a:ext>
            </a:extLst>
          </p:cNvPr>
          <p:cNvSpPr txBox="1"/>
          <p:nvPr/>
        </p:nvSpPr>
        <p:spPr>
          <a:xfrm>
            <a:off x="725864" y="4825972"/>
            <a:ext cx="7166796"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above-mentioned users are the 5 top most oldest users on Instagram who will be rewarded.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905916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5590F7-D63D-C94D-099A-DB4704FC228E}"/>
              </a:ext>
            </a:extLst>
          </p:cNvPr>
          <p:cNvSpPr txBox="1"/>
          <p:nvPr/>
        </p:nvSpPr>
        <p:spPr>
          <a:xfrm>
            <a:off x="1270158" y="816571"/>
            <a:ext cx="6346909" cy="523220"/>
          </a:xfrm>
          <a:prstGeom prst="rect">
            <a:avLst/>
          </a:prstGeom>
          <a:noFill/>
        </p:spPr>
        <p:txBody>
          <a:bodyPr wrap="square">
            <a:spAutoFit/>
          </a:bodyPr>
          <a:lstStyle/>
          <a:p>
            <a:pPr marL="457200" indent="-457200">
              <a:buFont typeface="Wingdings" panose="05000000000000000000" pitchFamily="2" charset="2"/>
              <a:buChar char="v"/>
            </a:pPr>
            <a:r>
              <a:rPr lang="en-IN" sz="2800" b="1" dirty="0">
                <a:effectLst/>
                <a:latin typeface="Calibri" panose="020F0502020204030204" pitchFamily="34" charset="0"/>
                <a:ea typeface="Times New Roman" panose="02020603050405020304" pitchFamily="18" charset="0"/>
              </a:rPr>
              <a:t>QUERY 2:</a:t>
            </a:r>
            <a:endParaRPr lang="en-IN" sz="2800" dirty="0"/>
          </a:p>
        </p:txBody>
      </p:sp>
      <p:sp>
        <p:nvSpPr>
          <p:cNvPr id="5" name="TextBox 4">
            <a:extLst>
              <a:ext uri="{FF2B5EF4-FFF2-40B4-BE49-F238E27FC236}">
                <a16:creationId xmlns:a16="http://schemas.microsoft.com/office/drawing/2014/main" id="{6662AE2F-3F12-56A9-1004-62D2D6B0E2FF}"/>
              </a:ext>
            </a:extLst>
          </p:cNvPr>
          <p:cNvSpPr txBox="1"/>
          <p:nvPr/>
        </p:nvSpPr>
        <p:spPr>
          <a:xfrm>
            <a:off x="1338606" y="1339791"/>
            <a:ext cx="9306299" cy="968278"/>
          </a:xfrm>
          <a:prstGeom prst="rect">
            <a:avLst/>
          </a:prstGeom>
          <a:noFill/>
        </p:spPr>
        <p:txBody>
          <a:bodyPr wrap="square">
            <a:spAutoFit/>
          </a:bodyPr>
          <a:lstStyle/>
          <a:p>
            <a:pPr marL="6858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below query identifies users who have never posted a single photo on Instagram which helps user engagement team to encourage inactive users to start posting by sending them promotional emails.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2212B05B-E314-276B-3D95-7E6AD2094F78}"/>
              </a:ext>
            </a:extLst>
          </p:cNvPr>
          <p:cNvPicPr>
            <a:picLocks noChangeAspect="1"/>
          </p:cNvPicPr>
          <p:nvPr/>
        </p:nvPicPr>
        <p:blipFill>
          <a:blip r:embed="rId2"/>
          <a:stretch>
            <a:fillRect/>
          </a:stretch>
        </p:blipFill>
        <p:spPr>
          <a:xfrm>
            <a:off x="1779623" y="2819478"/>
            <a:ext cx="5837444" cy="2082459"/>
          </a:xfrm>
          <a:prstGeom prst="rect">
            <a:avLst/>
          </a:prstGeom>
        </p:spPr>
      </p:pic>
    </p:spTree>
    <p:extLst>
      <p:ext uri="{BB962C8B-B14F-4D97-AF65-F5344CB8AC3E}">
        <p14:creationId xmlns:p14="http://schemas.microsoft.com/office/powerpoint/2010/main" val="217269851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138FE5-6427-8808-D930-DB76BDD442F6}"/>
              </a:ext>
            </a:extLst>
          </p:cNvPr>
          <p:cNvSpPr txBox="1"/>
          <p:nvPr/>
        </p:nvSpPr>
        <p:spPr>
          <a:xfrm>
            <a:off x="1604914" y="220685"/>
            <a:ext cx="6094428" cy="523220"/>
          </a:xfrm>
          <a:prstGeom prst="rect">
            <a:avLst/>
          </a:prstGeom>
          <a:noFill/>
        </p:spPr>
        <p:txBody>
          <a:bodyPr wrap="square">
            <a:spAutoFit/>
          </a:bodyPr>
          <a:lstStyle/>
          <a:p>
            <a:r>
              <a:rPr lang="en-IN" sz="2800" b="1" dirty="0">
                <a:latin typeface="Calibri" panose="020F0502020204030204" pitchFamily="34" charset="0"/>
              </a:rPr>
              <a:t>RESULT:</a:t>
            </a:r>
            <a:endParaRPr lang="en-IN" sz="2800" dirty="0"/>
          </a:p>
        </p:txBody>
      </p:sp>
      <p:pic>
        <p:nvPicPr>
          <p:cNvPr id="4" name="Picture 3">
            <a:extLst>
              <a:ext uri="{FF2B5EF4-FFF2-40B4-BE49-F238E27FC236}">
                <a16:creationId xmlns:a16="http://schemas.microsoft.com/office/drawing/2014/main" id="{605249A9-C4E1-BE0D-6A94-A99A314EDBE6}"/>
              </a:ext>
            </a:extLst>
          </p:cNvPr>
          <p:cNvPicPr>
            <a:picLocks noChangeAspect="1"/>
          </p:cNvPicPr>
          <p:nvPr/>
        </p:nvPicPr>
        <p:blipFill>
          <a:blip r:embed="rId2"/>
          <a:stretch>
            <a:fillRect/>
          </a:stretch>
        </p:blipFill>
        <p:spPr>
          <a:xfrm>
            <a:off x="1786372" y="915258"/>
            <a:ext cx="8960185" cy="4260057"/>
          </a:xfrm>
          <a:prstGeom prst="rect">
            <a:avLst/>
          </a:prstGeom>
        </p:spPr>
      </p:pic>
      <p:sp>
        <p:nvSpPr>
          <p:cNvPr id="6" name="TextBox 5">
            <a:extLst>
              <a:ext uri="{FF2B5EF4-FFF2-40B4-BE49-F238E27FC236}">
                <a16:creationId xmlns:a16="http://schemas.microsoft.com/office/drawing/2014/main" id="{4A175F80-32A3-37EC-82EE-B7A636A396F5}"/>
              </a:ext>
            </a:extLst>
          </p:cNvPr>
          <p:cNvSpPr txBox="1"/>
          <p:nvPr/>
        </p:nvSpPr>
        <p:spPr>
          <a:xfrm>
            <a:off x="1786371" y="5326392"/>
            <a:ext cx="8960185" cy="646331"/>
          </a:xfrm>
          <a:prstGeom prst="rect">
            <a:avLst/>
          </a:prstGeom>
          <a:noFill/>
        </p:spPr>
        <p:txBody>
          <a:bodyPr wrap="square">
            <a:spAutoFit/>
          </a:bodyPr>
          <a:lstStyle/>
          <a:p>
            <a:r>
              <a:rPr lang="en-IN" sz="1800" dirty="0">
                <a:effectLst/>
                <a:latin typeface="Calibri" panose="020F0502020204030204" pitchFamily="34" charset="0"/>
                <a:ea typeface="Times New Roman" panose="02020603050405020304" pitchFamily="18" charset="0"/>
              </a:rPr>
              <a:t>Above mentioned are inactive users to whom the team needs to send promotional emails to encourage them to be active on Instagram</a:t>
            </a:r>
            <a:endParaRPr lang="en-IN" dirty="0"/>
          </a:p>
        </p:txBody>
      </p:sp>
    </p:spTree>
    <p:extLst>
      <p:ext uri="{BB962C8B-B14F-4D97-AF65-F5344CB8AC3E}">
        <p14:creationId xmlns:p14="http://schemas.microsoft.com/office/powerpoint/2010/main" val="2659675729"/>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CCC240-DCE6-1EC6-9A73-D03891D95054}"/>
              </a:ext>
            </a:extLst>
          </p:cNvPr>
          <p:cNvSpPr txBox="1"/>
          <p:nvPr/>
        </p:nvSpPr>
        <p:spPr>
          <a:xfrm>
            <a:off x="1190134" y="550624"/>
            <a:ext cx="6094428" cy="523220"/>
          </a:xfrm>
          <a:prstGeom prst="rect">
            <a:avLst/>
          </a:prstGeom>
          <a:noFill/>
        </p:spPr>
        <p:txBody>
          <a:bodyPr wrap="square">
            <a:spAutoFit/>
          </a:bodyPr>
          <a:lstStyle/>
          <a:p>
            <a:r>
              <a:rPr lang="en-IN" sz="2800" b="1" dirty="0">
                <a:effectLst/>
                <a:latin typeface="Calibri" panose="020F0502020204030204" pitchFamily="34" charset="0"/>
                <a:ea typeface="Times New Roman" panose="02020603050405020304" pitchFamily="18" charset="0"/>
              </a:rPr>
              <a:t>QUERY 3:</a:t>
            </a:r>
            <a:endParaRPr lang="en-IN" sz="2800" dirty="0"/>
          </a:p>
        </p:txBody>
      </p:sp>
      <p:sp>
        <p:nvSpPr>
          <p:cNvPr id="5" name="TextBox 4">
            <a:extLst>
              <a:ext uri="{FF2B5EF4-FFF2-40B4-BE49-F238E27FC236}">
                <a16:creationId xmlns:a16="http://schemas.microsoft.com/office/drawing/2014/main" id="{3A4D1B1C-8326-8058-CF52-1036CBD196A0}"/>
              </a:ext>
            </a:extLst>
          </p:cNvPr>
          <p:cNvSpPr txBox="1"/>
          <p:nvPr/>
        </p:nvSpPr>
        <p:spPr>
          <a:xfrm>
            <a:off x="539685" y="1165551"/>
            <a:ext cx="10631078" cy="671915"/>
          </a:xfrm>
          <a:prstGeom prst="rect">
            <a:avLst/>
          </a:prstGeom>
          <a:noFill/>
        </p:spPr>
        <p:txBody>
          <a:bodyPr wrap="square">
            <a:spAutoFit/>
          </a:bodyPr>
          <a:lstStyle/>
          <a:p>
            <a:pPr marL="6858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Below query identifies the most likes on a single photo to find out winner of the contest with their details to the team.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CB281B8D-42ED-7886-BDB0-9D13AACAEBC3}"/>
              </a:ext>
            </a:extLst>
          </p:cNvPr>
          <p:cNvPicPr>
            <a:picLocks noChangeAspect="1"/>
          </p:cNvPicPr>
          <p:nvPr/>
        </p:nvPicPr>
        <p:blipFill>
          <a:blip r:embed="rId2"/>
          <a:stretch>
            <a:fillRect/>
          </a:stretch>
        </p:blipFill>
        <p:spPr>
          <a:xfrm>
            <a:off x="1190134" y="2055043"/>
            <a:ext cx="7005176" cy="3855563"/>
          </a:xfrm>
          <a:prstGeom prst="rect">
            <a:avLst/>
          </a:prstGeom>
        </p:spPr>
      </p:pic>
    </p:spTree>
    <p:extLst>
      <p:ext uri="{BB962C8B-B14F-4D97-AF65-F5344CB8AC3E}">
        <p14:creationId xmlns:p14="http://schemas.microsoft.com/office/powerpoint/2010/main" val="124700075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1800B8-FF4C-9267-1331-CFC25D6BC525}"/>
              </a:ext>
            </a:extLst>
          </p:cNvPr>
          <p:cNvSpPr txBox="1"/>
          <p:nvPr/>
        </p:nvSpPr>
        <p:spPr>
          <a:xfrm>
            <a:off x="992172" y="494590"/>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RESULT: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31B63D03-392B-A520-65E9-D471D4DDDDB2}"/>
              </a:ext>
            </a:extLst>
          </p:cNvPr>
          <p:cNvPicPr>
            <a:picLocks noChangeAspect="1"/>
          </p:cNvPicPr>
          <p:nvPr/>
        </p:nvPicPr>
        <p:blipFill>
          <a:blip r:embed="rId2"/>
          <a:stretch>
            <a:fillRect/>
          </a:stretch>
        </p:blipFill>
        <p:spPr>
          <a:xfrm>
            <a:off x="1533584" y="1858160"/>
            <a:ext cx="7898311" cy="1609823"/>
          </a:xfrm>
          <a:prstGeom prst="rect">
            <a:avLst/>
          </a:prstGeom>
        </p:spPr>
      </p:pic>
      <p:sp>
        <p:nvSpPr>
          <p:cNvPr id="6" name="TextBox 5">
            <a:extLst>
              <a:ext uri="{FF2B5EF4-FFF2-40B4-BE49-F238E27FC236}">
                <a16:creationId xmlns:a16="http://schemas.microsoft.com/office/drawing/2014/main" id="{9A65D861-933F-30E6-0337-2F6B6C2F694A}"/>
              </a:ext>
            </a:extLst>
          </p:cNvPr>
          <p:cNvSpPr txBox="1"/>
          <p:nvPr/>
        </p:nvSpPr>
        <p:spPr>
          <a:xfrm>
            <a:off x="1074655" y="4194928"/>
            <a:ext cx="8578391"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Zack_Kemmer93 with id 145 has got total of 48 likes and has been declared as the winner of the contest.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7310412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F7DEDF-0FA2-0214-F0D3-105CFB8285B0}"/>
              </a:ext>
            </a:extLst>
          </p:cNvPr>
          <p:cNvSpPr txBox="1"/>
          <p:nvPr/>
        </p:nvSpPr>
        <p:spPr>
          <a:xfrm>
            <a:off x="1265550" y="500380"/>
            <a:ext cx="6662392"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QUERRY 4:</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038E642-2353-4F3F-F296-2D750CBEE24B}"/>
              </a:ext>
            </a:extLst>
          </p:cNvPr>
          <p:cNvSpPr txBox="1"/>
          <p:nvPr/>
        </p:nvSpPr>
        <p:spPr>
          <a:xfrm>
            <a:off x="1121790" y="1310326"/>
            <a:ext cx="9860437" cy="671915"/>
          </a:xfrm>
          <a:prstGeom prst="rect">
            <a:avLst/>
          </a:prstGeom>
          <a:noFill/>
        </p:spPr>
        <p:txBody>
          <a:bodyPr wrap="square">
            <a:spAutoFit/>
          </a:bodyPr>
          <a:lstStyle/>
          <a:p>
            <a:pPr marL="6858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Below query is used to help the partner brand to identify the top five most popular hashtags to use in their posts to reach the most people.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5AD60852-C0BB-DF38-056E-2FF025C085A8}"/>
              </a:ext>
            </a:extLst>
          </p:cNvPr>
          <p:cNvPicPr>
            <a:picLocks noChangeAspect="1"/>
          </p:cNvPicPr>
          <p:nvPr/>
        </p:nvPicPr>
        <p:blipFill>
          <a:blip r:embed="rId2"/>
          <a:stretch>
            <a:fillRect/>
          </a:stretch>
        </p:blipFill>
        <p:spPr>
          <a:xfrm>
            <a:off x="1857079" y="2259284"/>
            <a:ext cx="7900243" cy="2616476"/>
          </a:xfrm>
          <a:prstGeom prst="rect">
            <a:avLst/>
          </a:prstGeom>
        </p:spPr>
      </p:pic>
    </p:spTree>
    <p:extLst>
      <p:ext uri="{BB962C8B-B14F-4D97-AF65-F5344CB8AC3E}">
        <p14:creationId xmlns:p14="http://schemas.microsoft.com/office/powerpoint/2010/main" val="46165097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6303FD-7ADB-5EEC-C70F-DA7CCCD4659D}"/>
              </a:ext>
            </a:extLst>
          </p:cNvPr>
          <p:cNvSpPr txBox="1"/>
          <p:nvPr/>
        </p:nvSpPr>
        <p:spPr>
          <a:xfrm>
            <a:off x="1067586" y="896306"/>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RESULT: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5121162-FF9D-0E8D-B852-F4110B85AC61}"/>
              </a:ext>
            </a:extLst>
          </p:cNvPr>
          <p:cNvPicPr>
            <a:picLocks noChangeAspect="1"/>
          </p:cNvPicPr>
          <p:nvPr/>
        </p:nvPicPr>
        <p:blipFill>
          <a:blip r:embed="rId2"/>
          <a:stretch>
            <a:fillRect/>
          </a:stretch>
        </p:blipFill>
        <p:spPr>
          <a:xfrm>
            <a:off x="1688340" y="1753189"/>
            <a:ext cx="4731313" cy="2668576"/>
          </a:xfrm>
          <a:prstGeom prst="rect">
            <a:avLst/>
          </a:prstGeom>
        </p:spPr>
      </p:pic>
      <p:sp>
        <p:nvSpPr>
          <p:cNvPr id="6" name="TextBox 5">
            <a:extLst>
              <a:ext uri="{FF2B5EF4-FFF2-40B4-BE49-F238E27FC236}">
                <a16:creationId xmlns:a16="http://schemas.microsoft.com/office/drawing/2014/main" id="{AF07FDA8-A26E-8CC5-8EF4-65BB91119054}"/>
              </a:ext>
            </a:extLst>
          </p:cNvPr>
          <p:cNvSpPr txBox="1"/>
          <p:nvPr/>
        </p:nvSpPr>
        <p:spPr>
          <a:xfrm>
            <a:off x="1688339" y="4880431"/>
            <a:ext cx="8398341" cy="646331"/>
          </a:xfrm>
          <a:prstGeom prst="rect">
            <a:avLst/>
          </a:prstGeom>
          <a:noFill/>
        </p:spPr>
        <p:txBody>
          <a:bodyPr wrap="square">
            <a:spAutoFit/>
          </a:bodyPr>
          <a:lstStyle/>
          <a:p>
            <a:r>
              <a:rPr lang="en-IN" sz="1800" dirty="0">
                <a:effectLst/>
                <a:latin typeface="Calibri" panose="020F0502020204030204" pitchFamily="34" charset="0"/>
                <a:ea typeface="Times New Roman" panose="02020603050405020304" pitchFamily="18" charset="0"/>
              </a:rPr>
              <a:t>The above mentioned are the popular top 5 hashtags which will help the team to reach the most Instagram users.</a:t>
            </a:r>
            <a:endParaRPr lang="en-IN" dirty="0"/>
          </a:p>
        </p:txBody>
      </p:sp>
    </p:spTree>
    <p:extLst>
      <p:ext uri="{BB962C8B-B14F-4D97-AF65-F5344CB8AC3E}">
        <p14:creationId xmlns:p14="http://schemas.microsoft.com/office/powerpoint/2010/main" val="28485253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9EDA87-4874-769C-413A-192C878035B0}"/>
              </a:ext>
            </a:extLst>
          </p:cNvPr>
          <p:cNvSpPr txBox="1"/>
          <p:nvPr/>
        </p:nvSpPr>
        <p:spPr>
          <a:xfrm>
            <a:off x="794210" y="773756"/>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QUERRY 5:</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32D18B1-BBF3-F8B9-5588-E7D78ABDF8A7}"/>
              </a:ext>
            </a:extLst>
          </p:cNvPr>
          <p:cNvSpPr txBox="1"/>
          <p:nvPr/>
        </p:nvSpPr>
        <p:spPr>
          <a:xfrm>
            <a:off x="433633" y="1438634"/>
            <a:ext cx="10048973" cy="671915"/>
          </a:xfrm>
          <a:prstGeom prst="rect">
            <a:avLst/>
          </a:prstGeom>
          <a:noFill/>
        </p:spPr>
        <p:txBody>
          <a:bodyPr wrap="square">
            <a:spAutoFit/>
          </a:bodyPr>
          <a:lstStyle/>
          <a:p>
            <a:pPr marL="9144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Below query gives the best day of the week to launch ads for Ad Campaign retrieving results for day of the week when most users register on Instagram.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22012E84-5A82-A925-075C-B629410151F8}"/>
              </a:ext>
            </a:extLst>
          </p:cNvPr>
          <p:cNvPicPr>
            <a:picLocks noChangeAspect="1"/>
          </p:cNvPicPr>
          <p:nvPr/>
        </p:nvPicPr>
        <p:blipFill>
          <a:blip r:embed="rId2"/>
          <a:stretch>
            <a:fillRect/>
          </a:stretch>
        </p:blipFill>
        <p:spPr>
          <a:xfrm>
            <a:off x="1449002" y="2658359"/>
            <a:ext cx="6123991" cy="2205871"/>
          </a:xfrm>
          <a:prstGeom prst="rect">
            <a:avLst/>
          </a:prstGeom>
        </p:spPr>
      </p:pic>
    </p:spTree>
    <p:extLst>
      <p:ext uri="{BB962C8B-B14F-4D97-AF65-F5344CB8AC3E}">
        <p14:creationId xmlns:p14="http://schemas.microsoft.com/office/powerpoint/2010/main" val="193143469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5C61CC-0B1F-BA22-9AC4-2576645821DB}"/>
              </a:ext>
            </a:extLst>
          </p:cNvPr>
          <p:cNvSpPr txBox="1"/>
          <p:nvPr/>
        </p:nvSpPr>
        <p:spPr>
          <a:xfrm>
            <a:off x="652807" y="575794"/>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RESULT: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2E38094-DEBB-23AC-8886-F2BEEAE3216C}"/>
              </a:ext>
            </a:extLst>
          </p:cNvPr>
          <p:cNvPicPr>
            <a:picLocks noChangeAspect="1"/>
          </p:cNvPicPr>
          <p:nvPr/>
        </p:nvPicPr>
        <p:blipFill>
          <a:blip r:embed="rId2"/>
          <a:stretch>
            <a:fillRect/>
          </a:stretch>
        </p:blipFill>
        <p:spPr>
          <a:xfrm>
            <a:off x="1312094" y="1334796"/>
            <a:ext cx="4919024" cy="2508009"/>
          </a:xfrm>
          <a:prstGeom prst="rect">
            <a:avLst/>
          </a:prstGeom>
        </p:spPr>
      </p:pic>
      <p:sp>
        <p:nvSpPr>
          <p:cNvPr id="6" name="TextBox 5">
            <a:extLst>
              <a:ext uri="{FF2B5EF4-FFF2-40B4-BE49-F238E27FC236}">
                <a16:creationId xmlns:a16="http://schemas.microsoft.com/office/drawing/2014/main" id="{6BF22E24-BAC0-8713-AD85-DF5E322DBD00}"/>
              </a:ext>
            </a:extLst>
          </p:cNvPr>
          <p:cNvSpPr txBox="1"/>
          <p:nvPr/>
        </p:nvSpPr>
        <p:spPr>
          <a:xfrm>
            <a:off x="752673" y="4415153"/>
            <a:ext cx="9286874"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Thursday and Sunday are the days of the week when the team can launch ads for Ad Campaign, as most of the users are registered on Instagram.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4006576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6AE0BC-A5F3-1155-3D9F-DE141CABB52D}"/>
              </a:ext>
            </a:extLst>
          </p:cNvPr>
          <p:cNvSpPr txBox="1"/>
          <p:nvPr/>
        </p:nvSpPr>
        <p:spPr>
          <a:xfrm>
            <a:off x="916756" y="931517"/>
            <a:ext cx="6094428" cy="532903"/>
          </a:xfrm>
          <a:prstGeom prst="rect">
            <a:avLst/>
          </a:prstGeom>
          <a:noFill/>
        </p:spPr>
        <p:txBody>
          <a:bodyPr wrap="square">
            <a:spAutoFit/>
          </a:bodyPr>
          <a:lstStyle/>
          <a:p>
            <a:pPr marL="2286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QUERRY 6:</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0735AA63-3D42-23E1-D8AB-F5C630B3C446}"/>
              </a:ext>
            </a:extLst>
          </p:cNvPr>
          <p:cNvSpPr txBox="1"/>
          <p:nvPr/>
        </p:nvSpPr>
        <p:spPr>
          <a:xfrm>
            <a:off x="678731" y="1781666"/>
            <a:ext cx="9662473"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below query gives average number of posts per user on Instagram to understand if users are still active and posting on Instagram or if they are making fewer posts.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DC2A40CC-EB4B-6BE7-C4A7-CB55889102F3}"/>
              </a:ext>
            </a:extLst>
          </p:cNvPr>
          <p:cNvPicPr>
            <a:picLocks noChangeAspect="1"/>
          </p:cNvPicPr>
          <p:nvPr/>
        </p:nvPicPr>
        <p:blipFill>
          <a:blip r:embed="rId2"/>
          <a:stretch>
            <a:fillRect/>
          </a:stretch>
        </p:blipFill>
        <p:spPr>
          <a:xfrm>
            <a:off x="1202152" y="3084667"/>
            <a:ext cx="7319680" cy="1677971"/>
          </a:xfrm>
          <a:prstGeom prst="rect">
            <a:avLst/>
          </a:prstGeom>
        </p:spPr>
      </p:pic>
    </p:spTree>
    <p:extLst>
      <p:ext uri="{BB962C8B-B14F-4D97-AF65-F5344CB8AC3E}">
        <p14:creationId xmlns:p14="http://schemas.microsoft.com/office/powerpoint/2010/main" val="22744917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B770FA-8A50-2F9D-7DE3-50022220A53D}"/>
              </a:ext>
            </a:extLst>
          </p:cNvPr>
          <p:cNvSpPr txBox="1"/>
          <p:nvPr/>
        </p:nvSpPr>
        <p:spPr>
          <a:xfrm>
            <a:off x="1444659" y="908843"/>
            <a:ext cx="6094428" cy="523220"/>
          </a:xfrm>
          <a:prstGeom prst="rect">
            <a:avLst/>
          </a:prstGeom>
          <a:noFill/>
        </p:spPr>
        <p:txBody>
          <a:bodyPr wrap="square">
            <a:spAutoFit/>
          </a:bodyPr>
          <a:lstStyle/>
          <a:p>
            <a:r>
              <a:rPr lang="en-IN" sz="2800" b="1" dirty="0">
                <a:effectLst/>
                <a:latin typeface="Calibri" panose="020F0502020204030204" pitchFamily="34" charset="0"/>
                <a:ea typeface="Times New Roman" panose="02020603050405020304" pitchFamily="18" charset="0"/>
              </a:rPr>
              <a:t>RESULT:</a:t>
            </a:r>
            <a:endParaRPr lang="en-IN" sz="2800" dirty="0"/>
          </a:p>
        </p:txBody>
      </p:sp>
      <p:pic>
        <p:nvPicPr>
          <p:cNvPr id="4" name="Picture 3">
            <a:extLst>
              <a:ext uri="{FF2B5EF4-FFF2-40B4-BE49-F238E27FC236}">
                <a16:creationId xmlns:a16="http://schemas.microsoft.com/office/drawing/2014/main" id="{723DE2DA-F162-7684-6A32-16A74252DA6A}"/>
              </a:ext>
            </a:extLst>
          </p:cNvPr>
          <p:cNvPicPr>
            <a:picLocks noChangeAspect="1"/>
          </p:cNvPicPr>
          <p:nvPr/>
        </p:nvPicPr>
        <p:blipFill>
          <a:blip r:embed="rId2"/>
          <a:stretch>
            <a:fillRect/>
          </a:stretch>
        </p:blipFill>
        <p:spPr>
          <a:xfrm>
            <a:off x="1519911" y="1838227"/>
            <a:ext cx="6577714" cy="1966103"/>
          </a:xfrm>
          <a:prstGeom prst="rect">
            <a:avLst/>
          </a:prstGeom>
        </p:spPr>
      </p:pic>
      <p:sp>
        <p:nvSpPr>
          <p:cNvPr id="6" name="TextBox 5">
            <a:extLst>
              <a:ext uri="{FF2B5EF4-FFF2-40B4-BE49-F238E27FC236}">
                <a16:creationId xmlns:a16="http://schemas.microsoft.com/office/drawing/2014/main" id="{473E30D1-04EC-B1D7-EA7B-90815F65729B}"/>
              </a:ext>
            </a:extLst>
          </p:cNvPr>
          <p:cNvSpPr txBox="1"/>
          <p:nvPr/>
        </p:nvSpPr>
        <p:spPr>
          <a:xfrm>
            <a:off x="999242" y="4408370"/>
            <a:ext cx="8700940"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There are 3,4730 average post per user and 25700 is the average of total posts to total users in Instagram as per the data.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4034561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D4877E-ADA1-F375-9637-E115A4355A41}"/>
              </a:ext>
            </a:extLst>
          </p:cNvPr>
          <p:cNvSpPr txBox="1"/>
          <p:nvPr/>
        </p:nvSpPr>
        <p:spPr>
          <a:xfrm>
            <a:off x="1199560" y="832818"/>
            <a:ext cx="6094428" cy="532903"/>
          </a:xfrm>
          <a:prstGeom prst="rect">
            <a:avLst/>
          </a:prstGeom>
          <a:noFill/>
        </p:spPr>
        <p:txBody>
          <a:bodyPr wrap="square">
            <a:spAutoFit/>
          </a:bodyPr>
          <a:lstStyle/>
          <a:p>
            <a:pPr marL="2286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QUERRY 7</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B9C52AA-3974-2E75-3E37-407A8ADEB4A1}"/>
              </a:ext>
            </a:extLst>
          </p:cNvPr>
          <p:cNvSpPr txBox="1"/>
          <p:nvPr/>
        </p:nvSpPr>
        <p:spPr>
          <a:xfrm>
            <a:off x="970961" y="1545505"/>
            <a:ext cx="9172280" cy="968278"/>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below query helps the investors to know if the platform is crowded with fake and dummy accounts by fetching details of users (potential bots) who have liked every single photo on the site.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45E0AB0B-71BA-F8B9-21DD-C88B0E7B65B2}"/>
              </a:ext>
            </a:extLst>
          </p:cNvPr>
          <p:cNvPicPr>
            <a:picLocks noChangeAspect="1"/>
          </p:cNvPicPr>
          <p:nvPr/>
        </p:nvPicPr>
        <p:blipFill>
          <a:blip r:embed="rId2"/>
          <a:stretch>
            <a:fillRect/>
          </a:stretch>
        </p:blipFill>
        <p:spPr>
          <a:xfrm>
            <a:off x="1426039" y="2960018"/>
            <a:ext cx="6162537" cy="2516956"/>
          </a:xfrm>
          <a:prstGeom prst="rect">
            <a:avLst/>
          </a:prstGeom>
        </p:spPr>
      </p:pic>
    </p:spTree>
    <p:extLst>
      <p:ext uri="{BB962C8B-B14F-4D97-AF65-F5344CB8AC3E}">
        <p14:creationId xmlns:p14="http://schemas.microsoft.com/office/powerpoint/2010/main" val="338265791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4EF3DC-3F9F-00C8-540B-89278A75800F}"/>
              </a:ext>
            </a:extLst>
          </p:cNvPr>
          <p:cNvSpPr txBox="1"/>
          <p:nvPr/>
        </p:nvSpPr>
        <p:spPr>
          <a:xfrm>
            <a:off x="749080" y="703229"/>
            <a:ext cx="6094428" cy="532903"/>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RESULT: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BB6C343E-609D-34C4-4902-A96AA472F838}"/>
              </a:ext>
            </a:extLst>
          </p:cNvPr>
          <p:cNvPicPr>
            <a:picLocks noChangeAspect="1"/>
          </p:cNvPicPr>
          <p:nvPr/>
        </p:nvPicPr>
        <p:blipFill>
          <a:blip r:embed="rId2"/>
          <a:stretch>
            <a:fillRect/>
          </a:stretch>
        </p:blipFill>
        <p:spPr>
          <a:xfrm>
            <a:off x="1621056" y="1407775"/>
            <a:ext cx="6094428" cy="3569577"/>
          </a:xfrm>
          <a:prstGeom prst="rect">
            <a:avLst/>
          </a:prstGeom>
        </p:spPr>
      </p:pic>
      <p:sp>
        <p:nvSpPr>
          <p:cNvPr id="6" name="TextBox 5">
            <a:extLst>
              <a:ext uri="{FF2B5EF4-FFF2-40B4-BE49-F238E27FC236}">
                <a16:creationId xmlns:a16="http://schemas.microsoft.com/office/drawing/2014/main" id="{5A82DCE6-9840-9985-DCEE-13347E42EC27}"/>
              </a:ext>
            </a:extLst>
          </p:cNvPr>
          <p:cNvSpPr txBox="1"/>
          <p:nvPr/>
        </p:nvSpPr>
        <p:spPr>
          <a:xfrm>
            <a:off x="1050129" y="5348919"/>
            <a:ext cx="9093112" cy="671915"/>
          </a:xfrm>
          <a:prstGeom prst="rect">
            <a:avLst/>
          </a:prstGeom>
          <a:noFill/>
        </p:spPr>
        <p:txBody>
          <a:bodyPr wrap="square">
            <a:spAutoFit/>
          </a:bodyPr>
          <a:lstStyle/>
          <a:p>
            <a:pPr marL="457200">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Above mentioned is the list of users with user_id and username who fake and dummy accounts and liked every single post.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34506854"/>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E772D0-8BEF-BCAD-38C3-1926C342CC81}"/>
              </a:ext>
            </a:extLst>
          </p:cNvPr>
          <p:cNvSpPr txBox="1"/>
          <p:nvPr/>
        </p:nvSpPr>
        <p:spPr>
          <a:xfrm>
            <a:off x="982744" y="990573"/>
            <a:ext cx="10602798" cy="4741619"/>
          </a:xfrm>
          <a:prstGeom prst="rect">
            <a:avLst/>
          </a:prstGeom>
          <a:noFill/>
        </p:spPr>
        <p:txBody>
          <a:bodyPr wrap="square">
            <a:spAutoFit/>
          </a:bodyPr>
          <a:lstStyle/>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CONCLUSION:</a:t>
            </a:r>
          </a:p>
          <a:p>
            <a:pPr marL="914400" lvl="1">
              <a:lnSpc>
                <a:spcPct val="107000"/>
              </a:lnSpc>
              <a:spcAft>
                <a:spcPts val="800"/>
              </a:spcAft>
            </a:pP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insights will help the development and marketing teams make good decisions. It will encourage the users of Instagram to be more active with improved version and friendly GUI. Different campaigns will be conducted based on the insights which will improve the overall user experience.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endPar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457200">
              <a:lnSpc>
                <a:spcPct val="107000"/>
              </a:lnSpc>
              <a:spcAft>
                <a:spcPts val="800"/>
              </a:spcAft>
            </a:pPr>
            <a:r>
              <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DRIVE LINK:</a:t>
            </a:r>
          </a:p>
          <a:p>
            <a:pPr marL="457200">
              <a:lnSpc>
                <a:spcPct val="107000"/>
              </a:lnSpc>
              <a:spcAft>
                <a:spcPts val="800"/>
              </a:spcAft>
            </a:pPr>
            <a:r>
              <a:rPr lang="en-IN" dirty="0">
                <a:solidFill>
                  <a:srgbClr val="000000"/>
                </a:solidFill>
                <a:latin typeface="Calibri" panose="020F0502020204030204" pitchFamily="34" charset="0"/>
                <a:cs typeface="Calibri" panose="020F0502020204030204" pitchFamily="34" charset="0"/>
              </a:rPr>
              <a:t>          </a:t>
            </a:r>
            <a:r>
              <a:rPr lang="en-IN" sz="1800" u="sng"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2"/>
              </a:rPr>
              <a:t>https://drive.google.com/drive/folders/1rAJr8OjvTlOzrcd_ckhmbj43VCyijD_U?usp=drive_link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endParaRPr lang="en-IN" sz="2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457200">
              <a:lnSpc>
                <a:spcPct val="107000"/>
              </a:lnSpc>
              <a:spcAft>
                <a:spcPts val="800"/>
              </a:spcAft>
            </a:pPr>
            <a:endParaRPr lang="en-IN" sz="28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57200">
              <a:lnSpc>
                <a:spcPct val="107000"/>
              </a:lnSpc>
              <a:spcAft>
                <a:spcPts val="800"/>
              </a:spcAft>
            </a:pP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3422726"/>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E56527-A07D-DA75-46EF-9C5DD5196070}"/>
              </a:ext>
            </a:extLst>
          </p:cNvPr>
          <p:cNvSpPr txBox="1"/>
          <p:nvPr/>
        </p:nvSpPr>
        <p:spPr>
          <a:xfrm>
            <a:off x="2557021" y="1697584"/>
            <a:ext cx="6709527" cy="1602939"/>
          </a:xfrm>
          <a:prstGeom prst="rect">
            <a:avLst/>
          </a:prstGeom>
          <a:noFill/>
        </p:spPr>
        <p:txBody>
          <a:bodyPr wrap="square">
            <a:spAutoFit/>
          </a:bodyPr>
          <a:lstStyle/>
          <a:p>
            <a:pPr marL="457200">
              <a:lnSpc>
                <a:spcPct val="107000"/>
              </a:lnSpc>
              <a:spcAft>
                <a:spcPts val="800"/>
              </a:spcAft>
            </a:pPr>
            <a:r>
              <a:rPr lang="en-IN" sz="9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THANK YOU</a:t>
            </a:r>
            <a:endParaRPr lang="en-IN" sz="96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4312670"/>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89</TotalTime>
  <Words>717</Words>
  <Application>Microsoft Office PowerPoint</Application>
  <PresentationFormat>Widescreen</PresentationFormat>
  <Paragraphs>46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Rounded MT Bold</vt:lpstr>
      <vt:lpstr>Calibri</vt:lpstr>
      <vt:lpstr>Calibri Light</vt:lpstr>
      <vt:lpstr>Times New Roman</vt:lpstr>
      <vt:lpstr>Wingdings</vt:lpstr>
      <vt:lpstr>Retrospect</vt:lpstr>
      <vt:lpstr>PowerPoint Presentation</vt:lpstr>
      <vt:lpstr>PROJECT DESCRIPTION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jaishree shivanaikar</dc:creator>
  <cp:lastModifiedBy>jaishree shivanaikar</cp:lastModifiedBy>
  <cp:revision>6</cp:revision>
  <dcterms:created xsi:type="dcterms:W3CDTF">2024-10-07T21:28:01Z</dcterms:created>
  <dcterms:modified xsi:type="dcterms:W3CDTF">2024-10-08T20:29:05Z</dcterms:modified>
</cp:coreProperties>
</file>